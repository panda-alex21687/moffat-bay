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4"/>
  </p:notesMasterIdLst>
  <p:sldIdLst>
    <p:sldId id="257" r:id="rId2"/>
    <p:sldId id="259" r:id="rId3"/>
    <p:sldId id="260" r:id="rId4"/>
    <p:sldId id="261" r:id="rId5"/>
    <p:sldId id="262" r:id="rId6"/>
    <p:sldId id="263" r:id="rId7"/>
    <p:sldId id="264" r:id="rId8"/>
    <p:sldId id="269" r:id="rId9"/>
    <p:sldId id="265" r:id="rId10"/>
    <p:sldId id="266" r:id="rId11"/>
    <p:sldId id="267" r:id="rId12"/>
    <p:sldId id="268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27" d="100"/>
          <a:sy n="127" d="100"/>
        </p:scale>
        <p:origin x="669" y="75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rdan Dardar" userId="bf7b334d40b61af5" providerId="LiveId" clId="{4E158AB8-6A65-4C9B-B92F-5C42AE9A8D85}"/>
    <pc:docChg chg="undo custSel addSld delSld modSld">
      <pc:chgData name="Jordan Dardar" userId="bf7b334d40b61af5" providerId="LiveId" clId="{4E158AB8-6A65-4C9B-B92F-5C42AE9A8D85}" dt="2026-09-24T02:29:06.883" v="41" actId="12"/>
      <pc:docMkLst>
        <pc:docMk/>
      </pc:docMkLst>
      <pc:sldChg chg="modSp mod">
        <pc:chgData name="Jordan Dardar" userId="bf7b334d40b61af5" providerId="LiveId" clId="{4E158AB8-6A65-4C9B-B92F-5C42AE9A8D85}" dt="2026-09-24T02:26:25.222" v="27" actId="14100"/>
        <pc:sldMkLst>
          <pc:docMk/>
          <pc:sldMk cId="0" sldId="257"/>
        </pc:sldMkLst>
        <pc:spChg chg="mod">
          <ac:chgData name="Jordan Dardar" userId="bf7b334d40b61af5" providerId="LiveId" clId="{4E158AB8-6A65-4C9B-B92F-5C42AE9A8D85}" dt="2026-09-24T02:26:25.222" v="27" actId="14100"/>
          <ac:spMkLst>
            <pc:docMk/>
            <pc:sldMk cId="0" sldId="257"/>
            <ac:spMk id="8" creationId="{00000000-0000-0000-0000-000000000000}"/>
          </ac:spMkLst>
        </pc:spChg>
        <pc:spChg chg="mod">
          <ac:chgData name="Jordan Dardar" userId="bf7b334d40b61af5" providerId="LiveId" clId="{4E158AB8-6A65-4C9B-B92F-5C42AE9A8D85}" dt="2026-09-24T02:26:16.287" v="25" actId="20577"/>
          <ac:spMkLst>
            <pc:docMk/>
            <pc:sldMk cId="0" sldId="257"/>
            <ac:spMk id="9" creationId="{00000000-0000-0000-0000-000000000000}"/>
          </ac:spMkLst>
        </pc:spChg>
      </pc:sldChg>
      <pc:sldChg chg="del">
        <pc:chgData name="Jordan Dardar" userId="bf7b334d40b61af5" providerId="LiveId" clId="{4E158AB8-6A65-4C9B-B92F-5C42AE9A8D85}" dt="2026-09-24T02:26:02.279" v="24" actId="47"/>
        <pc:sldMkLst>
          <pc:docMk/>
          <pc:sldMk cId="0" sldId="258"/>
        </pc:sldMkLst>
      </pc:sldChg>
      <pc:sldChg chg="delSp mod">
        <pc:chgData name="Jordan Dardar" userId="bf7b334d40b61af5" providerId="LiveId" clId="{4E158AB8-6A65-4C9B-B92F-5C42AE9A8D85}" dt="2026-09-24T02:26:44.161" v="29" actId="21"/>
        <pc:sldMkLst>
          <pc:docMk/>
          <pc:sldMk cId="0" sldId="259"/>
        </pc:sldMkLst>
        <pc:spChg chg="del">
          <ac:chgData name="Jordan Dardar" userId="bf7b334d40b61af5" providerId="LiveId" clId="{4E158AB8-6A65-4C9B-B92F-5C42AE9A8D85}" dt="2026-09-24T02:26:40.463" v="28" actId="21"/>
          <ac:spMkLst>
            <pc:docMk/>
            <pc:sldMk cId="0" sldId="259"/>
            <ac:spMk id="17" creationId="{00000000-0000-0000-0000-000000000000}"/>
          </ac:spMkLst>
        </pc:spChg>
        <pc:spChg chg="del">
          <ac:chgData name="Jordan Dardar" userId="bf7b334d40b61af5" providerId="LiveId" clId="{4E158AB8-6A65-4C9B-B92F-5C42AE9A8D85}" dt="2026-09-24T02:26:44.161" v="29" actId="21"/>
          <ac:spMkLst>
            <pc:docMk/>
            <pc:sldMk cId="0" sldId="259"/>
            <ac:spMk id="18" creationId="{00000000-0000-0000-0000-000000000000}"/>
          </ac:spMkLst>
        </pc:spChg>
      </pc:sldChg>
      <pc:sldChg chg="modSp mod">
        <pc:chgData name="Jordan Dardar" userId="bf7b334d40b61af5" providerId="LiveId" clId="{4E158AB8-6A65-4C9B-B92F-5C42AE9A8D85}" dt="2026-09-24T02:28:24.162" v="37" actId="20577"/>
        <pc:sldMkLst>
          <pc:docMk/>
          <pc:sldMk cId="0" sldId="266"/>
        </pc:sldMkLst>
        <pc:spChg chg="mod">
          <ac:chgData name="Jordan Dardar" userId="bf7b334d40b61af5" providerId="LiveId" clId="{4E158AB8-6A65-4C9B-B92F-5C42AE9A8D85}" dt="2026-09-24T02:28:24.162" v="37" actId="20577"/>
          <ac:spMkLst>
            <pc:docMk/>
            <pc:sldMk cId="0" sldId="266"/>
            <ac:spMk id="36" creationId="{00000000-0000-0000-0000-000000000000}"/>
          </ac:spMkLst>
        </pc:spChg>
      </pc:sldChg>
      <pc:sldChg chg="delSp modSp mod">
        <pc:chgData name="Jordan Dardar" userId="bf7b334d40b61af5" providerId="LiveId" clId="{4E158AB8-6A65-4C9B-B92F-5C42AE9A8D85}" dt="2026-09-24T02:29:06.883" v="41" actId="12"/>
        <pc:sldMkLst>
          <pc:docMk/>
          <pc:sldMk cId="0" sldId="267"/>
        </pc:sldMkLst>
        <pc:spChg chg="mod">
          <ac:chgData name="Jordan Dardar" userId="bf7b334d40b61af5" providerId="LiveId" clId="{4E158AB8-6A65-4C9B-B92F-5C42AE9A8D85}" dt="2026-09-24T02:29:06.883" v="41" actId="12"/>
          <ac:spMkLst>
            <pc:docMk/>
            <pc:sldMk cId="0" sldId="267"/>
            <ac:spMk id="5" creationId="{00000000-0000-0000-0000-000000000000}"/>
          </ac:spMkLst>
        </pc:spChg>
        <pc:spChg chg="del">
          <ac:chgData name="Jordan Dardar" userId="bf7b334d40b61af5" providerId="LiveId" clId="{4E158AB8-6A65-4C9B-B92F-5C42AE9A8D85}" dt="2026-09-24T02:28:49.454" v="39" actId="478"/>
          <ac:spMkLst>
            <pc:docMk/>
            <pc:sldMk cId="0" sldId="267"/>
            <ac:spMk id="7" creationId="{00000000-0000-0000-0000-000000000000}"/>
          </ac:spMkLst>
        </pc:spChg>
        <pc:picChg chg="del">
          <ac:chgData name="Jordan Dardar" userId="bf7b334d40b61af5" providerId="LiveId" clId="{4E158AB8-6A65-4C9B-B92F-5C42AE9A8D85}" dt="2026-09-24T02:28:46.967" v="38" actId="478"/>
          <ac:picMkLst>
            <pc:docMk/>
            <pc:sldMk cId="0" sldId="267"/>
            <ac:picMk id="6" creationId="{00000000-0000-0000-0000-000000000000}"/>
          </ac:picMkLst>
        </pc:picChg>
      </pc:sldChg>
      <pc:sldChg chg="delSp modSp mod">
        <pc:chgData name="Jordan Dardar" userId="bf7b334d40b61af5" providerId="LiveId" clId="{4E158AB8-6A65-4C9B-B92F-5C42AE9A8D85}" dt="2026-09-24T02:18:59.839" v="4" actId="21"/>
        <pc:sldMkLst>
          <pc:docMk/>
          <pc:sldMk cId="0" sldId="268"/>
        </pc:sldMkLst>
        <pc:spChg chg="del">
          <ac:chgData name="Jordan Dardar" userId="bf7b334d40b61af5" providerId="LiveId" clId="{4E158AB8-6A65-4C9B-B92F-5C42AE9A8D85}" dt="2026-09-24T02:18:54.250" v="2" actId="21"/>
          <ac:spMkLst>
            <pc:docMk/>
            <pc:sldMk cId="0" sldId="268"/>
            <ac:spMk id="8" creationId="{00000000-0000-0000-0000-000000000000}"/>
          </ac:spMkLst>
        </pc:spChg>
        <pc:spChg chg="del mod">
          <ac:chgData name="Jordan Dardar" userId="bf7b334d40b61af5" providerId="LiveId" clId="{4E158AB8-6A65-4C9B-B92F-5C42AE9A8D85}" dt="2026-09-24T02:18:59.839" v="4" actId="21"/>
          <ac:spMkLst>
            <pc:docMk/>
            <pc:sldMk cId="0" sldId="268"/>
            <ac:spMk id="9" creationId="{00000000-0000-0000-0000-000000000000}"/>
          </ac:spMkLst>
        </pc:spChg>
      </pc:sldChg>
      <pc:sldChg chg="new del">
        <pc:chgData name="Jordan Dardar" userId="bf7b334d40b61af5" providerId="LiveId" clId="{4E158AB8-6A65-4C9B-B92F-5C42AE9A8D85}" dt="2026-09-24T02:18:38.119" v="1" actId="680"/>
        <pc:sldMkLst>
          <pc:docMk/>
          <pc:sldMk cId="510275257" sldId="269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080B674-E533-421D-B90A-C78CB3E706F7}" type="datetimeFigureOut">
              <a:rPr lang="en-US" smtClean="0"/>
              <a:t>10/3/2026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664AD15-FF3F-4BF8-8D5E-5F7E97A29E7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848502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8440C8-4758-9432-6C22-AFC3D4AD78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4126CA9-722D-F8FF-6563-DECA75E0262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16AE737-D683-AEEA-0595-BBC21F7A559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BBE0F40-9AC6-0441-AF38-52D2BA6956B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6760573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EE6AEB-A7BC-35DA-8C7E-596D4CDDA61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0CBB010-5C10-CDD3-1D3A-ABBEC1D568F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53D6048-0D23-0C4B-83EF-B6AD2B13B0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DB1FFD-AAA5-4C9C-B77B-47D477C3549F}" type="datetimeFigureOut">
              <a:rPr lang="en-US" smtClean="0"/>
              <a:t>10/3/2026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0975D4-2DAC-6AD1-19E1-91303ED8F4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81B00C8-AE16-A595-37AA-F9F63CE44F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BB5014-0528-4632-915C-9B79A985D2A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3368733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4253A7-7191-0E16-E091-442D66BF64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37A88C-C8B6-A055-4289-A5D7731E5D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29656D-CE50-46A8-2D25-70AA8AFB6E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DB1FFD-AAA5-4C9C-B77B-47D477C3549F}" type="datetimeFigureOut">
              <a:rPr lang="en-US" smtClean="0"/>
              <a:t>10/3/2026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9A08FB6-5D8A-6670-8C98-9337F789EE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A1ED77-628F-FDBB-F6C3-9B7AB9FB87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BB5014-0528-4632-915C-9B79A985D2A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168439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A72A48-D9D4-8BCF-AAFE-8FD38CA333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D022FA8-A91D-CB65-F079-EEFCD266C07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EED6976-CF68-DF91-6B02-00425B54AE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DB1FFD-AAA5-4C9C-B77B-47D477C3549F}" type="datetimeFigureOut">
              <a:rPr lang="en-US" smtClean="0"/>
              <a:t>10/3/2026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5511AE-4166-5F51-1C95-B8D4A60413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6D97E0E-E9D1-CDC4-0C1E-FC0B773514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BB5014-0528-4632-915C-9B79A985D2A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375164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84A50F-C4B7-3836-7286-EB93062E1F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EF2EA6-894D-CBB8-8B8C-C1564C05652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A669C67-66E0-2D32-6649-768E47C039D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F99E78D-2C8B-3A3C-3F3C-3EA87D2235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DB1FFD-AAA5-4C9C-B77B-47D477C3549F}" type="datetimeFigureOut">
              <a:rPr lang="en-US" smtClean="0"/>
              <a:t>10/3/2026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34FB673-8CBC-D0C9-0331-DA0876F114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0A1DFD2-AAB1-4951-ED2A-5332E5E1C3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BB5014-0528-4632-915C-9B79A985D2A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32424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41578F-8B25-29C3-E8DD-B9A9D4C341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8AD5B82-D759-C072-A44D-B4C64A0558D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DE34AFB-A87C-4DC9-1F50-16DA694D13E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636855C-4A73-2D66-6FAB-3FDEEF550E3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AEA0F89-0C7E-F25B-FEA0-881B9B591F9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04E4239-D96B-4B3A-76EE-BD59953CC4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DB1FFD-AAA5-4C9C-B77B-47D477C3549F}" type="datetimeFigureOut">
              <a:rPr lang="en-US" smtClean="0"/>
              <a:t>10/3/2026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F00722A-E620-8A5D-7690-17F0D72818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7626883-C1F0-2AE3-08FC-1C14EDC55B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BB5014-0528-4632-915C-9B79A985D2A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0764629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81D4CC-73D7-FDF0-A6FF-503628B90A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9DED6AB-1036-5DAA-0811-2E04FEBE63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DB1FFD-AAA5-4C9C-B77B-47D477C3549F}" type="datetimeFigureOut">
              <a:rPr lang="en-US" smtClean="0"/>
              <a:t>10/3/2026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C43BDC0-D4E8-1518-6A5B-5F183C21DE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2D82A4D-A787-C015-7C41-F3CBCA17D4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BB5014-0528-4632-915C-9B79A985D2A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5464230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3BDE957-04B8-1F5C-F6A4-65988A3C6A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DB1FFD-AAA5-4C9C-B77B-47D477C3549F}" type="datetimeFigureOut">
              <a:rPr lang="en-US" smtClean="0"/>
              <a:t>10/3/2026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B944FD7-B6A8-4F40-F23D-05A4420809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85EFC6A-B03C-263E-81E8-168E7F1B25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BB5014-0528-4632-915C-9B79A985D2A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4535999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AE23A5-A6B8-ABD5-0F75-38DD68C4A2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66E50E-FEE3-62F5-9CA5-BBCA6DCAA2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D3E0DBF-3B03-211C-163E-C36D802AABB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0E2DE2D-9F7F-7F31-972C-AB428E7986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DB1FFD-AAA5-4C9C-B77B-47D477C3549F}" type="datetimeFigureOut">
              <a:rPr lang="en-US" smtClean="0"/>
              <a:t>10/3/2026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5771227-0EB8-2025-A88A-3DF8226F4A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2967929-F24A-249B-1641-C6350FA784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BB5014-0528-4632-915C-9B79A985D2A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6489814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543141-9905-52F0-B31D-FA72D143B9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E2A29C7-7566-E22C-1626-33E72DF1D8C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05BDD13-F8CD-3146-C22C-23B7115361B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99BAA3C-F5C7-464C-2F6C-748F64120A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DB1FFD-AAA5-4C9C-B77B-47D477C3549F}" type="datetimeFigureOut">
              <a:rPr lang="en-US" smtClean="0"/>
              <a:t>10/3/2026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B76601F-C8A4-3D15-54EF-A491AA9F8E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370C572-3327-F9D5-98D1-E48B533D33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BB5014-0528-4632-915C-9B79A985D2A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9065752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6F51E6-6D12-A546-9EC1-FAF0D52014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5C19592-9E39-4CE5-4095-B60CA1D0AE2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81CAA2-EDD2-B5D2-CDEA-5C1F694916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DB1FFD-AAA5-4C9C-B77B-47D477C3549F}" type="datetimeFigureOut">
              <a:rPr lang="en-US" smtClean="0"/>
              <a:t>10/3/2026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D8904CC-A8C9-C1B1-6F69-348BD7F4D6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C556E3D-AD4D-2E11-5418-146DF228AE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BB5014-0528-4632-915C-9B79A985D2A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45181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72ED98D-31A8-B723-B909-8B132017532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EF374C1-2DE6-864B-AA95-48FFB1EC5C5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D5391BE-480C-5E1D-4A71-A70FD135DF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DB1FFD-AAA5-4C9C-B77B-47D477C3549F}" type="datetimeFigureOut">
              <a:rPr lang="en-US" smtClean="0"/>
              <a:t>10/3/2026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CEFC214-9052-CB2A-8691-80801F1BCE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8DFE3D3-0B12-B224-B1F4-07854C4F2B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BB5014-0528-4632-915C-9B79A985D2A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2288381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MAST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0B2341"/>
          </a:solidFill>
          <a:ln w="12700">
            <a:solidFill>
              <a:srgbClr val="0B2341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6702552"/>
            <a:ext cx="12191695" cy="155448"/>
          </a:xfrm>
          <a:prstGeom prst="rect">
            <a:avLst/>
          </a:prstGeom>
          <a:solidFill>
            <a:srgbClr val="F1B632"/>
          </a:solidFill>
          <a:ln w="12700">
            <a:solidFill>
              <a:srgbClr val="F1B632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200">
                <a:solidFill>
                  <a:srgbClr val="7A8191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303166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C625DA8-8FF8-64E9-AE00-641721E1A0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CA0B7B3-AFF5-3908-CCED-F3597E7352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7472FB-0D3D-2127-829B-4E7C9818C4F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6DB1FFD-AAA5-4C9C-B77B-47D477C3549F}" type="datetimeFigureOut">
              <a:rPr lang="en-US" smtClean="0"/>
              <a:t>10/3/2026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78A6B4-3144-A2CC-750C-1F1DC851C61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D19FEBE-A737-C28A-6634-1C66BFB09A3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6BB5014-0528-4632-915C-9B79A985D2A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532154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1051560"/>
            <a:ext cx="5577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0B2341"/>
                </a:solidFill>
              </a:rPr>
              <a:t>Moffat Bay Marina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685800" y="1627632"/>
            <a:ext cx="5577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586073"/>
                </a:solidFill>
              </a:rPr>
              <a:t>Module 10 QA Presentation Draft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685800" y="2148840"/>
            <a:ext cx="1188720" cy="0"/>
          </a:xfrm>
          <a:prstGeom prst="line">
            <a:avLst/>
          </a:prstGeom>
          <a:noFill/>
          <a:ln w="50800">
            <a:solidFill>
              <a:srgbClr val="F1B632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685800" y="2487168"/>
            <a:ext cx="5303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0B2341"/>
                </a:solidFill>
              </a:rPr>
              <a:t>Group Green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0B2341"/>
                </a:solidFill>
              </a:rPr>
              <a:t>Jordan Dardar • Aftabur Rahman • Alexander Baldree • Maksvmilian Jankowski</a:t>
            </a:r>
            <a:endParaRPr lang="en-US" sz="1500" dirty="0"/>
          </a:p>
        </p:txBody>
      </p:sp>
      <p:pic>
        <p:nvPicPr>
          <p:cNvPr id="6" name="Image 0" descr="/mnt/data/3b771257-8922-4866-8265-7756e117980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2240" y="1204000"/>
            <a:ext cx="5074920" cy="3169841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492240" y="4782312"/>
            <a:ext cx="5074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586073"/>
                </a:solidFill>
              </a:rPr>
              <a:t>Current landing page prototype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850392" y="5202936"/>
            <a:ext cx="10552176" cy="40233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502920" y="6473952"/>
            <a:ext cx="10698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7A8191"/>
                </a:solidFill>
              </a:rPr>
              <a:t>Moffat Bay Marina • Group Green • CSD460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200">
                <a:solidFill>
                  <a:srgbClr val="7A8191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1</a:t>
            </a:fld>
            <a:endParaRPr lang="en-US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11556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B23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Introduction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02920" y="886968"/>
            <a:ext cx="960120" cy="0"/>
          </a:xfrm>
          <a:prstGeom prst="line">
            <a:avLst/>
          </a:prstGeom>
          <a:noFill/>
          <a:ln w="38100">
            <a:solidFill>
              <a:srgbClr val="F1B632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502920" y="987552"/>
            <a:ext cx="11155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860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Group Green roles and current focus.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731520" y="1325880"/>
            <a:ext cx="4937760" cy="1005840"/>
          </a:xfrm>
          <a:prstGeom prst="roundRect">
            <a:avLst>
              <a:gd name="adj" fmla="val 7273"/>
            </a:avLst>
          </a:prstGeom>
          <a:solidFill>
            <a:srgbClr val="F4F7FB"/>
          </a:solidFill>
          <a:ln w="12700">
            <a:solidFill>
              <a:srgbClr val="D9E1EC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932688" y="1490472"/>
            <a:ext cx="4480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B2341"/>
                </a:solidFill>
              </a:rPr>
              <a:t>Jordan Dardar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932688" y="1783080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586073"/>
                </a:solidFill>
              </a:rPr>
              <a:t>Presentation draft, peer testing support, screenshots, final review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172200" y="1325880"/>
            <a:ext cx="4937760" cy="1005840"/>
          </a:xfrm>
          <a:prstGeom prst="roundRect">
            <a:avLst>
              <a:gd name="adj" fmla="val 7273"/>
            </a:avLst>
          </a:prstGeom>
          <a:solidFill>
            <a:srgbClr val="F4F7FB"/>
          </a:solidFill>
          <a:ln w="12700">
            <a:solidFill>
              <a:srgbClr val="D9E1EC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6373368" y="1490472"/>
            <a:ext cx="4480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B2341"/>
                </a:solidFill>
              </a:rPr>
              <a:t>Aftabur Rahman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6373368" y="1783080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586073"/>
                </a:solidFill>
              </a:rPr>
              <a:t>Backend/test support and peer test documentation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731520" y="2743200"/>
            <a:ext cx="4937760" cy="1005840"/>
          </a:xfrm>
          <a:prstGeom prst="roundRect">
            <a:avLst>
              <a:gd name="adj" fmla="val 7273"/>
            </a:avLst>
          </a:prstGeom>
          <a:solidFill>
            <a:srgbClr val="F4F7FB"/>
          </a:solidFill>
          <a:ln w="12700">
            <a:solidFill>
              <a:srgbClr val="D9E1EC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932688" y="2907792"/>
            <a:ext cx="4480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B2341"/>
                </a:solidFill>
              </a:rPr>
              <a:t>Alexander Baldree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932688" y="3200400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586073"/>
                </a:solidFill>
              </a:rPr>
              <a:t>Team coordination and project deployment, Voice-over actor 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172200" y="2743200"/>
            <a:ext cx="4937760" cy="1005840"/>
          </a:xfrm>
          <a:prstGeom prst="roundRect">
            <a:avLst>
              <a:gd name="adj" fmla="val 7273"/>
            </a:avLst>
          </a:prstGeom>
          <a:solidFill>
            <a:srgbClr val="F4F7FB"/>
          </a:solidFill>
          <a:ln w="12700">
            <a:solidFill>
              <a:srgbClr val="D9E1EC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6373368" y="2907792"/>
            <a:ext cx="4480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B2341"/>
                </a:solidFill>
              </a:rPr>
              <a:t>Maksvmilian Jankowski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6373368" y="3200400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586073"/>
                </a:solidFill>
              </a:rPr>
              <a:t>Module 9 wait list work, SQL scripts, functional tests, and final product deployment 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502920" y="6473952"/>
            <a:ext cx="10698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7A8191"/>
                </a:solidFill>
              </a:rPr>
              <a:t>Moffat Bay Marina • Group Green • CSD460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200">
                <a:solidFill>
                  <a:srgbClr val="7A8191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2</a:t>
            </a:fld>
            <a:endParaRPr lang="en-US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11556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B23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Prototype Overview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02920" y="886968"/>
            <a:ext cx="960120" cy="0"/>
          </a:xfrm>
          <a:prstGeom prst="line">
            <a:avLst/>
          </a:prstGeom>
          <a:noFill/>
          <a:ln w="38100">
            <a:solidFill>
              <a:srgbClr val="F1B632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502920" y="987552"/>
            <a:ext cx="11155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860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Customer-facing marina reservation system.</a:t>
            </a:r>
            <a:endParaRPr lang="en-US" sz="1200" dirty="0"/>
          </a:p>
        </p:txBody>
      </p:sp>
      <p:pic>
        <p:nvPicPr>
          <p:cNvPr id="5" name="Image 0" descr="/mnt/data/3b771257-8922-4866-8265-7756e117980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486973"/>
            <a:ext cx="5486400" cy="3426855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0080" y="505663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586073"/>
                </a:solidFill>
              </a:rPr>
              <a:t>Landing page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6492240" y="1417320"/>
            <a:ext cx="4937760" cy="31089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r>
              <a:rPr lang="en-US" sz="1420" dirty="0">
                <a:solidFill>
                  <a:srgbClr val="0518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Public visitors can review marina details, contact information, and pricing before signing in.</a:t>
            </a:r>
            <a:endParaRPr lang="en-US" sz="1420" dirty="0"/>
          </a:p>
          <a:p>
            <a:r>
              <a:rPr lang="en-US" sz="1420" dirty="0">
                <a:solidFill>
                  <a:srgbClr val="0518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Customers can register, log in, reserve a marina slip, review reservation details, and look up reservations.</a:t>
            </a:r>
            <a:endParaRPr lang="en-US" sz="1420" dirty="0"/>
          </a:p>
          <a:p>
            <a:r>
              <a:rPr lang="en-US" sz="1420" dirty="0">
                <a:solidFill>
                  <a:srgbClr val="0518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9 expands support for wait list lookup and database-backed availability checks.</a:t>
            </a:r>
            <a:endParaRPr lang="en-US" sz="1420" dirty="0"/>
          </a:p>
          <a:p>
            <a:r>
              <a:rPr lang="en-US" sz="1420" dirty="0">
                <a:solidFill>
                  <a:srgbClr val="0518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design uses a consistent navy/gold marina theme across pages.</a:t>
            </a:r>
            <a:endParaRPr lang="en-US" sz="1420" dirty="0"/>
          </a:p>
        </p:txBody>
      </p:sp>
      <p:sp>
        <p:nvSpPr>
          <p:cNvPr id="8" name="Text 5"/>
          <p:cNvSpPr/>
          <p:nvPr/>
        </p:nvSpPr>
        <p:spPr>
          <a:xfrm>
            <a:off x="502920" y="6473952"/>
            <a:ext cx="10698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7A8191"/>
                </a:solidFill>
              </a:rPr>
              <a:t>Moffat Bay Marina • Group Green • CSD460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200">
                <a:solidFill>
                  <a:srgbClr val="7A8191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3</a:t>
            </a:fld>
            <a:endParaRPr lang="en-US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11556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B23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Sample Prototypes: Public Pages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02920" y="886968"/>
            <a:ext cx="960120" cy="0"/>
          </a:xfrm>
          <a:prstGeom prst="line">
            <a:avLst/>
          </a:prstGeom>
          <a:noFill/>
          <a:ln w="38100">
            <a:solidFill>
              <a:srgbClr val="F1B632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502920" y="987552"/>
            <a:ext cx="11155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860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Landing, About Us, and Contact Us pages.</a:t>
            </a:r>
            <a:endParaRPr lang="en-US" sz="1200" dirty="0"/>
          </a:p>
        </p:txBody>
      </p:sp>
      <p:pic>
        <p:nvPicPr>
          <p:cNvPr id="5" name="Image 0" descr="/mnt/data/b29ff2df-b592-4ddc-8548-319c43bbb61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5703" y="1417320"/>
            <a:ext cx="4172274" cy="26060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85800" y="4096512"/>
            <a:ext cx="5212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586073"/>
                </a:solidFill>
              </a:rPr>
              <a:t>About Us</a:t>
            </a:r>
            <a:endParaRPr lang="en-US" sz="950" dirty="0"/>
          </a:p>
        </p:txBody>
      </p:sp>
      <p:pic>
        <p:nvPicPr>
          <p:cNvPr id="7" name="Image 1" descr="/mnt/data/64183c33-ccc3-4774-bd15-e1e42e90b9d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29263" y="1417320"/>
            <a:ext cx="4172274" cy="260604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309360" y="4096512"/>
            <a:ext cx="5212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586073"/>
                </a:solidFill>
              </a:rPr>
              <a:t>Contact Us</a:t>
            </a:r>
            <a:endParaRPr lang="en-US" sz="950" dirty="0"/>
          </a:p>
        </p:txBody>
      </p:sp>
      <p:sp>
        <p:nvSpPr>
          <p:cNvPr id="9" name="Shape 5"/>
          <p:cNvSpPr/>
          <p:nvPr/>
        </p:nvSpPr>
        <p:spPr>
          <a:xfrm>
            <a:off x="685800" y="4617720"/>
            <a:ext cx="10835640" cy="777240"/>
          </a:xfrm>
          <a:prstGeom prst="rect">
            <a:avLst/>
          </a:prstGeom>
          <a:solidFill>
            <a:srgbClr val="F4F7FB"/>
          </a:solidFill>
          <a:ln w="12700">
            <a:solidFill>
              <a:srgbClr val="DDE5F0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0" name="Text 6"/>
          <p:cNvSpPr/>
          <p:nvPr/>
        </p:nvSpPr>
        <p:spPr>
          <a:xfrm>
            <a:off x="850392" y="4745736"/>
            <a:ext cx="10506456" cy="5212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0B2341"/>
                </a:solidFill>
              </a:rPr>
              <a:t>Public pages are intended to be viewable before login so visitors can understand the marina, contact options, and available services.</a:t>
            </a:r>
            <a:endParaRPr lang="en-US" sz="1250" dirty="0"/>
          </a:p>
        </p:txBody>
      </p:sp>
      <p:sp>
        <p:nvSpPr>
          <p:cNvPr id="11" name="Text 7"/>
          <p:cNvSpPr/>
          <p:nvPr/>
        </p:nvSpPr>
        <p:spPr>
          <a:xfrm>
            <a:off x="502920" y="6473952"/>
            <a:ext cx="10698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7A8191"/>
                </a:solidFill>
              </a:rPr>
              <a:t>Moffat Bay Marina • Group Green • CSD460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200">
                <a:solidFill>
                  <a:srgbClr val="7A8191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4</a:t>
            </a:fld>
            <a:endParaRPr lang="en-US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11556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B23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Sample Prototypes: Customer Account Flow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02920" y="886968"/>
            <a:ext cx="960120" cy="0"/>
          </a:xfrm>
          <a:prstGeom prst="line">
            <a:avLst/>
          </a:prstGeom>
          <a:noFill/>
          <a:ln w="38100">
            <a:solidFill>
              <a:srgbClr val="F1B632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502920" y="987552"/>
            <a:ext cx="11155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860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Login and authenticated account dashboard.</a:t>
            </a:r>
            <a:endParaRPr lang="en-US" sz="1200" dirty="0"/>
          </a:p>
        </p:txBody>
      </p:sp>
      <p:pic>
        <p:nvPicPr>
          <p:cNvPr id="5" name="Image 0" descr="/mnt/data/be335d57-7bc2-485a-8ddb-c8cc22e8f7f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69104" y="1417320"/>
            <a:ext cx="4245472" cy="26517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85800" y="4142232"/>
            <a:ext cx="5212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586073"/>
                </a:solidFill>
              </a:rPr>
              <a:t>Login page</a:t>
            </a:r>
            <a:endParaRPr lang="en-US" sz="950" dirty="0"/>
          </a:p>
        </p:txBody>
      </p:sp>
      <p:pic>
        <p:nvPicPr>
          <p:cNvPr id="7" name="Image 1" descr="/mnt/data/c03180cc-e98a-47ca-8c05-d9dcd73acec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92664" y="1417320"/>
            <a:ext cx="4245472" cy="265176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309360" y="4142232"/>
            <a:ext cx="5212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586073"/>
                </a:solidFill>
              </a:rPr>
              <a:t>Post-login account view</a:t>
            </a:r>
            <a:endParaRPr lang="en-US" sz="950" dirty="0"/>
          </a:p>
        </p:txBody>
      </p:sp>
      <p:sp>
        <p:nvSpPr>
          <p:cNvPr id="9" name="Text 5"/>
          <p:cNvSpPr/>
          <p:nvPr/>
        </p:nvSpPr>
        <p:spPr>
          <a:xfrm>
            <a:off x="822960" y="4590288"/>
            <a:ext cx="10332720" cy="9144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r>
              <a:rPr lang="en-US" sz="1250" dirty="0">
                <a:solidFill>
                  <a:srgbClr val="0518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Credentials are validated before opening authenticated features.</a:t>
            </a:r>
            <a:endParaRPr lang="en-US" sz="1250" dirty="0"/>
          </a:p>
          <a:p>
            <a:r>
              <a:rPr lang="en-US" sz="1250" dirty="0">
                <a:solidFill>
                  <a:srgbClr val="0518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Authenticated customers can reach pricing, reservation, and wait list workflows.</a:t>
            </a:r>
            <a:endParaRPr lang="en-US" sz="1250" dirty="0"/>
          </a:p>
          <a:p>
            <a:r>
              <a:rPr lang="en-US" sz="1250" dirty="0">
                <a:solidFill>
                  <a:srgbClr val="0518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Registration and login should be included in the final screen-capture walkthrough.</a:t>
            </a:r>
            <a:endParaRPr lang="en-US" sz="1250" dirty="0"/>
          </a:p>
        </p:txBody>
      </p:sp>
      <p:sp>
        <p:nvSpPr>
          <p:cNvPr id="10" name="Text 6"/>
          <p:cNvSpPr/>
          <p:nvPr/>
        </p:nvSpPr>
        <p:spPr>
          <a:xfrm>
            <a:off x="502920" y="6473952"/>
            <a:ext cx="10698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7A8191"/>
                </a:solidFill>
              </a:rPr>
              <a:t>Moffat Bay Marina • Group Green • CSD460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200">
                <a:solidFill>
                  <a:srgbClr val="7A8191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5</a:t>
            </a:fld>
            <a:endParaRPr lang="en-US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11556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B23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Sample Prototypes: Reservation Flow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02920" y="886968"/>
            <a:ext cx="960120" cy="0"/>
          </a:xfrm>
          <a:prstGeom prst="line">
            <a:avLst/>
          </a:prstGeom>
          <a:noFill/>
          <a:ln w="38100">
            <a:solidFill>
              <a:srgbClr val="F1B632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502920" y="987552"/>
            <a:ext cx="11155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860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Slip reservation, summary, and reservation lookup pages.</a:t>
            </a:r>
            <a:endParaRPr lang="en-US" sz="1200" dirty="0"/>
          </a:p>
        </p:txBody>
      </p:sp>
      <p:pic>
        <p:nvPicPr>
          <p:cNvPr id="5" name="Image 0" descr="/mnt/data/485835f2-d24d-41e4-aa18-7c6baca5b87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569474"/>
            <a:ext cx="3611880" cy="2256013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4050792"/>
            <a:ext cx="3611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586073"/>
                </a:solidFill>
              </a:rPr>
              <a:t>Slip reservation</a:t>
            </a:r>
            <a:endParaRPr lang="en-US" sz="950" dirty="0"/>
          </a:p>
        </p:txBody>
      </p:sp>
      <p:pic>
        <p:nvPicPr>
          <p:cNvPr id="7" name="Image 1" descr="/mnt/data/0b97b295-de8d-4683-8d02-e800b60ec59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15968" y="1569474"/>
            <a:ext cx="3611880" cy="2256013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4315968" y="4050792"/>
            <a:ext cx="3611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586073"/>
                </a:solidFill>
              </a:rPr>
              <a:t>Reservation summary</a:t>
            </a:r>
            <a:endParaRPr lang="en-US" sz="950" dirty="0"/>
          </a:p>
        </p:txBody>
      </p:sp>
      <p:pic>
        <p:nvPicPr>
          <p:cNvPr id="9" name="Image 2" descr="/mnt/data/8c20478c-4f82-415f-85a7-5f9c55a9414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92440" y="1569474"/>
            <a:ext cx="3611880" cy="2256013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8092440" y="4050792"/>
            <a:ext cx="3611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586073"/>
                </a:solidFill>
              </a:rPr>
              <a:t>Reservation lookup</a:t>
            </a:r>
            <a:endParaRPr lang="en-US" sz="950" dirty="0"/>
          </a:p>
        </p:txBody>
      </p:sp>
      <p:sp>
        <p:nvSpPr>
          <p:cNvPr id="11" name="Shape 6"/>
          <p:cNvSpPr/>
          <p:nvPr/>
        </p:nvSpPr>
        <p:spPr>
          <a:xfrm>
            <a:off x="685800" y="4572000"/>
            <a:ext cx="10835640" cy="804672"/>
          </a:xfrm>
          <a:prstGeom prst="rect">
            <a:avLst/>
          </a:prstGeom>
          <a:solidFill>
            <a:srgbClr val="F4F7FB"/>
          </a:solidFill>
          <a:ln w="12700">
            <a:solidFill>
              <a:srgbClr val="DDE5F0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2" name="Text 7"/>
          <p:cNvSpPr/>
          <p:nvPr/>
        </p:nvSpPr>
        <p:spPr>
          <a:xfrm>
            <a:off x="850392" y="4700016"/>
            <a:ext cx="10506456" cy="5486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0B2341"/>
                </a:solidFill>
              </a:rPr>
              <a:t>The flow supports entering boat/reservation information, reviewing reservation details, and retrieving the reservation later by ID and email.</a:t>
            </a:r>
            <a:endParaRPr lang="en-US" sz="1250" dirty="0"/>
          </a:p>
        </p:txBody>
      </p:sp>
      <p:sp>
        <p:nvSpPr>
          <p:cNvPr id="13" name="Text 8"/>
          <p:cNvSpPr/>
          <p:nvPr/>
        </p:nvSpPr>
        <p:spPr>
          <a:xfrm>
            <a:off x="502920" y="6473952"/>
            <a:ext cx="10698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7A8191"/>
                </a:solidFill>
              </a:rPr>
              <a:t>Moffat Bay Marina • Group Green • CSD460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200">
                <a:solidFill>
                  <a:srgbClr val="7A8191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6</a:t>
            </a:fld>
            <a:endParaRPr lang="en-US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11556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B23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9 Focus: Wait List Lookup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02920" y="886968"/>
            <a:ext cx="960120" cy="0"/>
          </a:xfrm>
          <a:prstGeom prst="line">
            <a:avLst/>
          </a:prstGeom>
          <a:noFill/>
          <a:ln w="38100">
            <a:solidFill>
              <a:srgbClr val="F1B632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pic>
        <p:nvPicPr>
          <p:cNvPr id="5" name="Image 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132505" y="1468752"/>
            <a:ext cx="4318670" cy="2594615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85800" y="4187952"/>
            <a:ext cx="5212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586073"/>
                </a:solidFill>
              </a:rPr>
              <a:t>Pricing / availability-related prototype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5591362" y="1594487"/>
            <a:ext cx="6465195" cy="2468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 lnSpcReduction="10000"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05182F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Functional tests should verify database-backed availability and wait list counts.</a:t>
            </a:r>
            <a:endParaRPr 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05182F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Max is preparing SQL scripts for the peer reviewer.</a:t>
            </a:r>
            <a:endParaRPr 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05182F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Final deck update: add screenshots from the completed wait list tests once the team posts them.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Visitors who aren't logged in still see the public summary, with a prompt to log in before they can join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A logged-in customer also sees their own wait list entries and position in line, and can join a wait list for a boat right from the page</a:t>
            </a:r>
          </a:p>
          <a:p>
            <a:pPr marL="285750" indent="-285750">
              <a:lnSpc>
                <a:spcPct val="100000"/>
              </a:lnSpc>
              <a:buFont typeface="Arial" panose="020B0604020202020204" pitchFamily="34" charset="0"/>
              <a:buChar char="•"/>
            </a:pPr>
            <a:endParaRPr lang="en-US" sz="1420" dirty="0"/>
          </a:p>
        </p:txBody>
      </p:sp>
      <p:sp>
        <p:nvSpPr>
          <p:cNvPr id="9" name="Text 6"/>
          <p:cNvSpPr/>
          <p:nvPr/>
        </p:nvSpPr>
        <p:spPr>
          <a:xfrm>
            <a:off x="6565392" y="4379976"/>
            <a:ext cx="4517136" cy="4297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502920" y="6473952"/>
            <a:ext cx="10698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7A8191"/>
                </a:solidFill>
              </a:rPr>
              <a:t>Moffat Bay Marina • Group Green • CSD460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200">
                <a:solidFill>
                  <a:srgbClr val="7A8191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7</a:t>
            </a:fld>
            <a:endParaRPr lang="en-US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FD17F8-4AD1-EE4F-4F13-13299A84AB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A8E929FB-D9D8-F8B1-77F4-40D4257BBA6C}"/>
              </a:ext>
            </a:extLst>
          </p:cNvPr>
          <p:cNvSpPr/>
          <p:nvPr/>
        </p:nvSpPr>
        <p:spPr>
          <a:xfrm>
            <a:off x="502920" y="384048"/>
            <a:ext cx="111556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B23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10 Addition: User Account Info </a:t>
            </a:r>
            <a:endParaRPr lang="en-US" sz="2400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E0E02BB0-2CE6-DB98-A18F-39756CC20CFF}"/>
              </a:ext>
            </a:extLst>
          </p:cNvPr>
          <p:cNvSpPr/>
          <p:nvPr/>
        </p:nvSpPr>
        <p:spPr>
          <a:xfrm>
            <a:off x="502920" y="886968"/>
            <a:ext cx="960120" cy="0"/>
          </a:xfrm>
          <a:prstGeom prst="line">
            <a:avLst/>
          </a:prstGeom>
          <a:noFill/>
          <a:ln w="38100">
            <a:solidFill>
              <a:srgbClr val="F1B632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63318139-2D4B-145B-C3A7-629B66EB2E1F}"/>
              </a:ext>
            </a:extLst>
          </p:cNvPr>
          <p:cNvSpPr/>
          <p:nvPr/>
        </p:nvSpPr>
        <p:spPr>
          <a:xfrm>
            <a:off x="502920" y="987552"/>
            <a:ext cx="11155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860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Waiting on final test screenshots and SQL results from the Module 9 owner.</a:t>
            </a:r>
            <a:endParaRPr lang="en-US" sz="1200" dirty="0"/>
          </a:p>
        </p:txBody>
      </p:sp>
      <p:pic>
        <p:nvPicPr>
          <p:cNvPr id="5" name="Image 0">
            <a:extLst>
              <a:ext uri="{FF2B5EF4-FFF2-40B4-BE49-F238E27FC236}">
                <a16:creationId xmlns:a16="http://schemas.microsoft.com/office/drawing/2014/main" id="{AD7C71AB-2BA1-70F7-C69F-41D29588708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132505" y="1445518"/>
            <a:ext cx="4318670" cy="2641083"/>
          </a:xfrm>
          <a:prstGeom prst="rect">
            <a:avLst/>
          </a:prstGeom>
        </p:spPr>
      </p:pic>
      <p:sp>
        <p:nvSpPr>
          <p:cNvPr id="6" name="Text 3">
            <a:extLst>
              <a:ext uri="{FF2B5EF4-FFF2-40B4-BE49-F238E27FC236}">
                <a16:creationId xmlns:a16="http://schemas.microsoft.com/office/drawing/2014/main" id="{48336418-DE5C-001C-A974-6A47BFF4904D}"/>
              </a:ext>
            </a:extLst>
          </p:cNvPr>
          <p:cNvSpPr/>
          <p:nvPr/>
        </p:nvSpPr>
        <p:spPr>
          <a:xfrm>
            <a:off x="685800" y="4187952"/>
            <a:ext cx="5212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586073"/>
                </a:solidFill>
              </a:rPr>
              <a:t>Client Profile Information</a:t>
            </a:r>
            <a:endParaRPr lang="en-US" sz="950" dirty="0"/>
          </a:p>
        </p:txBody>
      </p:sp>
      <p:sp>
        <p:nvSpPr>
          <p:cNvPr id="7" name="Text 4">
            <a:extLst>
              <a:ext uri="{FF2B5EF4-FFF2-40B4-BE49-F238E27FC236}">
                <a16:creationId xmlns:a16="http://schemas.microsoft.com/office/drawing/2014/main" id="{4790F304-78B8-0B9B-1F58-CD0A15B7F3F9}"/>
              </a:ext>
            </a:extLst>
          </p:cNvPr>
          <p:cNvSpPr/>
          <p:nvPr/>
        </p:nvSpPr>
        <p:spPr>
          <a:xfrm>
            <a:off x="5550795" y="691316"/>
            <a:ext cx="6396506" cy="3957463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20" dirty="0">
                <a:solidFill>
                  <a:srgbClr val="0518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added this page recently as a quality of life improvement for the client.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600" dirty="0"/>
              <a:t>Gives a logged-in customer a single page to view their account, boat, and current slip details.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600" dirty="0"/>
              <a:t>Pulls live data from the server on every page load rather than trusting anything cached in the browser.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20" dirty="0">
                <a:solidFill>
                  <a:srgbClr val="05182F"/>
                </a:solidFill>
                <a:latin typeface="Arial" pitchFamily="34" charset="0"/>
                <a:cs typeface="Arial" pitchFamily="34" charset="-120"/>
              </a:rPr>
              <a:t>A</a:t>
            </a:r>
            <a:r>
              <a:rPr lang="en-US" sz="1600" dirty="0"/>
              <a:t>ny unauthenticated visitor is redirected straight to login instead of seeing a blank or broken page</a:t>
            </a:r>
            <a:endParaRPr lang="en-US" sz="1420" dirty="0">
              <a:solidFill>
                <a:srgbClr val="05182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D0831E27-28A9-9682-9F31-FCD7C6ED4009}"/>
              </a:ext>
            </a:extLst>
          </p:cNvPr>
          <p:cNvSpPr/>
          <p:nvPr/>
        </p:nvSpPr>
        <p:spPr>
          <a:xfrm>
            <a:off x="6565392" y="4379976"/>
            <a:ext cx="4517136" cy="4297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endParaRPr lang="en-US" sz="1250" dirty="0"/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1C3E4B96-8A20-CEB6-439D-42985D73E1E9}"/>
              </a:ext>
            </a:extLst>
          </p:cNvPr>
          <p:cNvSpPr/>
          <p:nvPr/>
        </p:nvSpPr>
        <p:spPr>
          <a:xfrm>
            <a:off x="502920" y="6473952"/>
            <a:ext cx="10698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7A8191"/>
                </a:solidFill>
              </a:rPr>
              <a:t>Moffat Bay Marina • Group Green • CSD460</a:t>
            </a:r>
            <a:endParaRPr lang="en-US" sz="850" dirty="0"/>
          </a:p>
        </p:txBody>
      </p:sp>
      <p:sp>
        <p:nvSpPr>
          <p:cNvPr id="25" name="Slide Number Placeholder 0">
            <a:extLst>
              <a:ext uri="{FF2B5EF4-FFF2-40B4-BE49-F238E27FC236}">
                <a16:creationId xmlns:a16="http://schemas.microsoft.com/office/drawing/2014/main" id="{ED99EBAB-0AC3-00E9-C8E8-64ABC34DCA32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7A8191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96447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11556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B23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ERD and Database Scope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02920" y="886968"/>
            <a:ext cx="960120" cy="0"/>
          </a:xfrm>
          <a:prstGeom prst="line">
            <a:avLst/>
          </a:prstGeom>
          <a:noFill/>
          <a:ln w="38100">
            <a:solidFill>
              <a:srgbClr val="F1B632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807720" y="1673352"/>
            <a:ext cx="5394960" cy="2926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 fontScale="92500"/>
          </a:bodyPr>
          <a:lstStyle/>
          <a:p>
            <a:pPr>
              <a:lnSpc>
                <a:spcPct val="200000"/>
              </a:lnSpc>
            </a:pPr>
            <a:r>
              <a:rPr lang="en-US" sz="1400" dirty="0">
                <a:solidFill>
                  <a:srgbClr val="0518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customer data: account identity, login credentials, and contact information.</a:t>
            </a:r>
            <a:endParaRPr lang="en-US" sz="1400" dirty="0"/>
          </a:p>
          <a:p>
            <a:pPr>
              <a:lnSpc>
                <a:spcPct val="200000"/>
              </a:lnSpc>
            </a:pPr>
            <a:r>
              <a:rPr lang="en-US" sz="1400" dirty="0">
                <a:solidFill>
                  <a:srgbClr val="0518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Reservation data: reservation ID, customer, boat name, length, check-in date, slip size/number, status, and monthly cost.</a:t>
            </a:r>
            <a:endParaRPr lang="en-US" sz="1400" dirty="0"/>
          </a:p>
          <a:p>
            <a:pPr>
              <a:lnSpc>
                <a:spcPct val="200000"/>
              </a:lnSpc>
            </a:pPr>
            <a:r>
              <a:rPr lang="en-US" sz="1400" dirty="0">
                <a:solidFill>
                  <a:srgbClr val="0518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Slip capacity data: slip type, size, availability, and wait list counts.</a:t>
            </a:r>
            <a:endParaRPr lang="en-US" sz="1400" dirty="0"/>
          </a:p>
          <a:p>
            <a:pPr>
              <a:lnSpc>
                <a:spcPct val="200000"/>
              </a:lnSpc>
            </a:pPr>
            <a:r>
              <a:rPr lang="en-US" sz="1400" dirty="0">
                <a:solidFill>
                  <a:srgbClr val="0518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Recent additions include the Electrical power opt in and the forgotten</a:t>
            </a:r>
          </a:p>
          <a:p>
            <a:pPr>
              <a:lnSpc>
                <a:spcPct val="200000"/>
              </a:lnSpc>
            </a:pPr>
            <a:r>
              <a:rPr lang="en-US" sz="1400" dirty="0">
                <a:solidFill>
                  <a:srgbClr val="05182F"/>
                </a:solidFill>
                <a:latin typeface="Arial" pitchFamily="34" charset="0"/>
                <a:cs typeface="Arial" pitchFamily="34" charset="-120"/>
              </a:rPr>
              <a:t>Departure date that enabled the calculation of wait period 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8527" y="384048"/>
            <a:ext cx="4975753" cy="6138928"/>
          </a:xfrm>
          <a:prstGeom prst="roundRect">
            <a:avLst>
              <a:gd name="adj" fmla="val 2105"/>
            </a:avLst>
          </a:prstGeom>
          <a:blipFill dpi="0"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 w="12700">
            <a:solidFill>
              <a:srgbClr val="D9E1EC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6766560" y="1618488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6766560" y="2103120"/>
            <a:ext cx="4389120" cy="10515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766560" y="3474720"/>
            <a:ext cx="4389120" cy="8229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02920" y="6473952"/>
            <a:ext cx="10698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7A8191"/>
                </a:solidFill>
              </a:rPr>
              <a:t>Moffat Bay Marina • Group Green • CSD460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200">
                <a:solidFill>
                  <a:srgbClr val="7A8191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9</a:t>
            </a:fld>
            <a:endParaRPr lang="en-US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11556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B23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Tests Created and Results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02920" y="886968"/>
            <a:ext cx="960120" cy="0"/>
          </a:xfrm>
          <a:prstGeom prst="line">
            <a:avLst/>
          </a:prstGeom>
          <a:noFill/>
          <a:ln w="38100">
            <a:solidFill>
              <a:srgbClr val="F1B632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640080" y="1417320"/>
            <a:ext cx="10789920" cy="384048"/>
          </a:xfrm>
          <a:prstGeom prst="rect">
            <a:avLst/>
          </a:prstGeom>
          <a:solidFill>
            <a:srgbClr val="0B2341"/>
          </a:solidFill>
          <a:ln w="12700">
            <a:solidFill>
              <a:srgbClr val="0B2341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713232" y="1527048"/>
            <a:ext cx="223113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</a:rPr>
              <a:t>Test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3090672" y="1527048"/>
            <a:ext cx="570585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</a:rPr>
              <a:t>Purpose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8942832" y="1527048"/>
            <a:ext cx="241401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</a:rPr>
              <a:t>Result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40080" y="1856232"/>
            <a:ext cx="1078992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D9E1EC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713232" y="1965960"/>
            <a:ext cx="223113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20" b="1" dirty="0">
                <a:solidFill>
                  <a:srgbClr val="0B2341"/>
                </a:solidFill>
              </a:rPr>
              <a:t>Landing page load</a:t>
            </a:r>
            <a:endParaRPr lang="en-US" sz="1020" dirty="0"/>
          </a:p>
        </p:txBody>
      </p:sp>
      <p:sp>
        <p:nvSpPr>
          <p:cNvPr id="11" name="Text 9"/>
          <p:cNvSpPr/>
          <p:nvPr/>
        </p:nvSpPr>
        <p:spPr>
          <a:xfrm>
            <a:off x="3090672" y="1965960"/>
            <a:ext cx="57058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20" dirty="0">
                <a:solidFill>
                  <a:srgbClr val="0B2341"/>
                </a:solidFill>
              </a:rPr>
              <a:t>Public landing page opens without login.</a:t>
            </a:r>
            <a:endParaRPr lang="en-US" sz="1020" dirty="0"/>
          </a:p>
        </p:txBody>
      </p:sp>
      <p:sp>
        <p:nvSpPr>
          <p:cNvPr id="12" name="Text 10"/>
          <p:cNvSpPr/>
          <p:nvPr/>
        </p:nvSpPr>
        <p:spPr>
          <a:xfrm>
            <a:off x="8942832" y="1965960"/>
            <a:ext cx="24140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20" b="1" dirty="0">
                <a:solidFill>
                  <a:srgbClr val="0B2341"/>
                </a:solidFill>
              </a:rPr>
              <a:t>PASS</a:t>
            </a:r>
            <a:endParaRPr lang="en-US" sz="1020" dirty="0"/>
          </a:p>
        </p:txBody>
      </p:sp>
      <p:sp>
        <p:nvSpPr>
          <p:cNvPr id="13" name="Shape 11"/>
          <p:cNvSpPr/>
          <p:nvPr/>
        </p:nvSpPr>
        <p:spPr>
          <a:xfrm>
            <a:off x="640080" y="2295144"/>
            <a:ext cx="10789920" cy="420624"/>
          </a:xfrm>
          <a:prstGeom prst="rect">
            <a:avLst/>
          </a:prstGeom>
          <a:solidFill>
            <a:srgbClr val="F6F8FB"/>
          </a:solidFill>
          <a:ln w="6350">
            <a:solidFill>
              <a:srgbClr val="D9E1EC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713232" y="2404872"/>
            <a:ext cx="223113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20" b="1" dirty="0">
                <a:solidFill>
                  <a:srgbClr val="0B2341"/>
                </a:solidFill>
              </a:rPr>
              <a:t>About/Contact access</a:t>
            </a:r>
            <a:endParaRPr lang="en-US" sz="1020" dirty="0"/>
          </a:p>
        </p:txBody>
      </p:sp>
      <p:sp>
        <p:nvSpPr>
          <p:cNvPr id="15" name="Text 13"/>
          <p:cNvSpPr/>
          <p:nvPr/>
        </p:nvSpPr>
        <p:spPr>
          <a:xfrm>
            <a:off x="3090672" y="2404872"/>
            <a:ext cx="57058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20" dirty="0">
                <a:solidFill>
                  <a:srgbClr val="0B2341"/>
                </a:solidFill>
              </a:rPr>
              <a:t>Public information and contact form are reachable.</a:t>
            </a:r>
            <a:endParaRPr lang="en-US" sz="1020" dirty="0"/>
          </a:p>
        </p:txBody>
      </p:sp>
      <p:sp>
        <p:nvSpPr>
          <p:cNvPr id="16" name="Text 14"/>
          <p:cNvSpPr/>
          <p:nvPr/>
        </p:nvSpPr>
        <p:spPr>
          <a:xfrm>
            <a:off x="8942832" y="2404872"/>
            <a:ext cx="24140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20" b="1" dirty="0">
                <a:solidFill>
                  <a:srgbClr val="0B2341"/>
                </a:solidFill>
              </a:rPr>
              <a:t>PASS</a:t>
            </a:r>
            <a:endParaRPr lang="en-US" sz="1020" dirty="0"/>
          </a:p>
        </p:txBody>
      </p:sp>
      <p:sp>
        <p:nvSpPr>
          <p:cNvPr id="17" name="Shape 15"/>
          <p:cNvSpPr/>
          <p:nvPr/>
        </p:nvSpPr>
        <p:spPr>
          <a:xfrm>
            <a:off x="640080" y="2734056"/>
            <a:ext cx="1078992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D9E1EC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713232" y="2843784"/>
            <a:ext cx="223113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20" b="1" dirty="0">
                <a:solidFill>
                  <a:srgbClr val="0B2341"/>
                </a:solidFill>
              </a:rPr>
              <a:t>Login / account access</a:t>
            </a:r>
            <a:endParaRPr lang="en-US" sz="1020" dirty="0"/>
          </a:p>
        </p:txBody>
      </p:sp>
      <p:sp>
        <p:nvSpPr>
          <p:cNvPr id="19" name="Text 17"/>
          <p:cNvSpPr/>
          <p:nvPr/>
        </p:nvSpPr>
        <p:spPr>
          <a:xfrm>
            <a:off x="3090672" y="2843784"/>
            <a:ext cx="57058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20" dirty="0">
                <a:solidFill>
                  <a:srgbClr val="0B2341"/>
                </a:solidFill>
              </a:rPr>
              <a:t>Customer can access authenticated flow.</a:t>
            </a:r>
            <a:endParaRPr lang="en-US" sz="1020" dirty="0"/>
          </a:p>
        </p:txBody>
      </p:sp>
      <p:sp>
        <p:nvSpPr>
          <p:cNvPr id="20" name="Text 18"/>
          <p:cNvSpPr/>
          <p:nvPr/>
        </p:nvSpPr>
        <p:spPr>
          <a:xfrm>
            <a:off x="8942832" y="2843784"/>
            <a:ext cx="24140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20" b="1" dirty="0">
                <a:solidFill>
                  <a:srgbClr val="0B2341"/>
                </a:solidFill>
              </a:rPr>
              <a:t>PASS / verify live</a:t>
            </a:r>
            <a:endParaRPr lang="en-US" sz="1020" dirty="0"/>
          </a:p>
        </p:txBody>
      </p:sp>
      <p:sp>
        <p:nvSpPr>
          <p:cNvPr id="21" name="Shape 19"/>
          <p:cNvSpPr/>
          <p:nvPr/>
        </p:nvSpPr>
        <p:spPr>
          <a:xfrm>
            <a:off x="640080" y="3172968"/>
            <a:ext cx="10789920" cy="420624"/>
          </a:xfrm>
          <a:prstGeom prst="rect">
            <a:avLst/>
          </a:prstGeom>
          <a:solidFill>
            <a:srgbClr val="F6F8FB"/>
          </a:solidFill>
          <a:ln w="6350">
            <a:solidFill>
              <a:srgbClr val="D9E1EC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713232" y="3282696"/>
            <a:ext cx="223113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20" b="1" dirty="0">
                <a:solidFill>
                  <a:srgbClr val="0B2341"/>
                </a:solidFill>
              </a:rPr>
              <a:t>Slip reservation flow</a:t>
            </a:r>
            <a:endParaRPr lang="en-US" sz="1020" dirty="0"/>
          </a:p>
        </p:txBody>
      </p:sp>
      <p:sp>
        <p:nvSpPr>
          <p:cNvPr id="23" name="Text 21"/>
          <p:cNvSpPr/>
          <p:nvPr/>
        </p:nvSpPr>
        <p:spPr>
          <a:xfrm>
            <a:off x="3090672" y="3282696"/>
            <a:ext cx="57058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20" dirty="0">
                <a:solidFill>
                  <a:srgbClr val="0B2341"/>
                </a:solidFill>
              </a:rPr>
              <a:t>Reservation form, cost, and summary details are shown.</a:t>
            </a:r>
            <a:endParaRPr lang="en-US" sz="1020" dirty="0"/>
          </a:p>
        </p:txBody>
      </p:sp>
      <p:sp>
        <p:nvSpPr>
          <p:cNvPr id="24" name="Text 22"/>
          <p:cNvSpPr/>
          <p:nvPr/>
        </p:nvSpPr>
        <p:spPr>
          <a:xfrm>
            <a:off x="8942832" y="3282696"/>
            <a:ext cx="24140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20" b="1" dirty="0">
                <a:solidFill>
                  <a:srgbClr val="0B2341"/>
                </a:solidFill>
              </a:rPr>
              <a:t>PASS</a:t>
            </a:r>
            <a:endParaRPr lang="en-US" sz="1020" dirty="0"/>
          </a:p>
        </p:txBody>
      </p:sp>
      <p:sp>
        <p:nvSpPr>
          <p:cNvPr id="25" name="Shape 23"/>
          <p:cNvSpPr/>
          <p:nvPr/>
        </p:nvSpPr>
        <p:spPr>
          <a:xfrm>
            <a:off x="640080" y="3611880"/>
            <a:ext cx="1078992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D9E1EC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713232" y="3721608"/>
            <a:ext cx="223113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20" b="1" dirty="0">
                <a:solidFill>
                  <a:srgbClr val="0B2341"/>
                </a:solidFill>
              </a:rPr>
              <a:t>Reservation lookup</a:t>
            </a:r>
            <a:endParaRPr lang="en-US" sz="1020" dirty="0"/>
          </a:p>
        </p:txBody>
      </p:sp>
      <p:sp>
        <p:nvSpPr>
          <p:cNvPr id="27" name="Text 25"/>
          <p:cNvSpPr/>
          <p:nvPr/>
        </p:nvSpPr>
        <p:spPr>
          <a:xfrm>
            <a:off x="3090672" y="3721608"/>
            <a:ext cx="57058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20" dirty="0">
                <a:solidFill>
                  <a:srgbClr val="0B2341"/>
                </a:solidFill>
              </a:rPr>
              <a:t>Valid/invalid lookup behavior and data display.</a:t>
            </a:r>
            <a:endParaRPr lang="en-US" sz="1020" dirty="0"/>
          </a:p>
        </p:txBody>
      </p:sp>
      <p:sp>
        <p:nvSpPr>
          <p:cNvPr id="28" name="Text 26"/>
          <p:cNvSpPr/>
          <p:nvPr/>
        </p:nvSpPr>
        <p:spPr>
          <a:xfrm>
            <a:off x="8942832" y="3721608"/>
            <a:ext cx="24140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20" b="1" dirty="0">
                <a:solidFill>
                  <a:srgbClr val="0B2341"/>
                </a:solidFill>
              </a:rPr>
              <a:t>PASS</a:t>
            </a:r>
            <a:endParaRPr lang="en-US" sz="1020" dirty="0"/>
          </a:p>
        </p:txBody>
      </p:sp>
      <p:sp>
        <p:nvSpPr>
          <p:cNvPr id="29" name="Shape 27"/>
          <p:cNvSpPr/>
          <p:nvPr/>
        </p:nvSpPr>
        <p:spPr>
          <a:xfrm>
            <a:off x="640080" y="4041648"/>
            <a:ext cx="10789920" cy="420624"/>
          </a:xfrm>
          <a:prstGeom prst="rect">
            <a:avLst/>
          </a:prstGeom>
          <a:solidFill>
            <a:srgbClr val="F6F8FB"/>
          </a:solidFill>
          <a:ln w="6350">
            <a:solidFill>
              <a:srgbClr val="D9E1EC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713232" y="4160520"/>
            <a:ext cx="223113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20" b="1" dirty="0">
                <a:solidFill>
                  <a:srgbClr val="0B2341"/>
                </a:solidFill>
              </a:rPr>
              <a:t>Wait list lookup</a:t>
            </a:r>
            <a:endParaRPr lang="en-US" sz="1020" dirty="0"/>
          </a:p>
        </p:txBody>
      </p:sp>
      <p:sp>
        <p:nvSpPr>
          <p:cNvPr id="31" name="Text 29"/>
          <p:cNvSpPr/>
          <p:nvPr/>
        </p:nvSpPr>
        <p:spPr>
          <a:xfrm>
            <a:off x="3090672" y="4160520"/>
            <a:ext cx="57058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20" dirty="0">
                <a:solidFill>
                  <a:srgbClr val="0B2341"/>
                </a:solidFill>
              </a:rPr>
              <a:t>Availability and wait list count SQL results.</a:t>
            </a:r>
            <a:endParaRPr lang="en-US" sz="1020" dirty="0"/>
          </a:p>
        </p:txBody>
      </p:sp>
      <p:sp>
        <p:nvSpPr>
          <p:cNvPr id="32" name="Text 30"/>
          <p:cNvSpPr/>
          <p:nvPr/>
        </p:nvSpPr>
        <p:spPr>
          <a:xfrm>
            <a:off x="8942832" y="4160520"/>
            <a:ext cx="24140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20" b="1" dirty="0">
                <a:solidFill>
                  <a:schemeClr val="accent1">
                    <a:lumMod val="75000"/>
                  </a:schemeClr>
                </a:solidFill>
              </a:rPr>
              <a:t>PASS</a:t>
            </a:r>
            <a:endParaRPr lang="en-US" sz="1020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3" name="Image 0" descr="/mnt/data/837ae131-d810-42c5-80ef-177935b3829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88855" y="4892040"/>
            <a:ext cx="2131651" cy="1097280"/>
          </a:xfrm>
          <a:prstGeom prst="rect">
            <a:avLst/>
          </a:prstGeom>
        </p:spPr>
      </p:pic>
      <p:sp>
        <p:nvSpPr>
          <p:cNvPr id="34" name="Text 31"/>
          <p:cNvSpPr/>
          <p:nvPr/>
        </p:nvSpPr>
        <p:spPr>
          <a:xfrm>
            <a:off x="822960" y="6062472"/>
            <a:ext cx="4663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586073"/>
                </a:solidFill>
              </a:rPr>
              <a:t>Test plan format used for peer evidence</a:t>
            </a:r>
            <a:endParaRPr lang="en-US" sz="950" dirty="0"/>
          </a:p>
        </p:txBody>
      </p:sp>
      <p:sp>
        <p:nvSpPr>
          <p:cNvPr id="37" name="Text 34"/>
          <p:cNvSpPr/>
          <p:nvPr/>
        </p:nvSpPr>
        <p:spPr>
          <a:xfrm>
            <a:off x="502920" y="6473952"/>
            <a:ext cx="10698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7A8191"/>
                </a:solidFill>
              </a:rPr>
              <a:t>Moffat Bay Marina • Group Green • CSD460</a:t>
            </a:r>
            <a:endParaRPr lang="en-US" sz="850" dirty="0"/>
          </a:p>
        </p:txBody>
      </p:sp>
      <p:sp>
        <p:nvSpPr>
          <p:cNvPr id="3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200">
                <a:solidFill>
                  <a:srgbClr val="7A8191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10</a:t>
            </a:fld>
            <a:endParaRPr lang="en-US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11556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B23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Lessons Learned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02920" y="886968"/>
            <a:ext cx="960120" cy="0"/>
          </a:xfrm>
          <a:prstGeom prst="line">
            <a:avLst/>
          </a:prstGeom>
          <a:noFill/>
          <a:ln w="38100">
            <a:solidFill>
              <a:srgbClr val="F1B632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502920" y="987552"/>
            <a:ext cx="11155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860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takeaways from building and testing the prototype.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22960" y="1417320"/>
            <a:ext cx="8302752" cy="3840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50" dirty="0">
                <a:solidFill>
                  <a:srgbClr val="0518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Keep database scripts and Java code synchronized so new columns match the running application.</a:t>
            </a:r>
            <a:endParaRPr lang="en-US" sz="145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50" dirty="0">
                <a:solidFill>
                  <a:srgbClr val="0518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the test plan template consistently: developer/tester names, dates, pass/fail, screenshots, and comments.</a:t>
            </a:r>
            <a:endParaRPr lang="en-US" sz="145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50" dirty="0">
                <a:solidFill>
                  <a:srgbClr val="0518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Coordinate earlier in Discord and tag the group when a meeting or test pass is starting.</a:t>
            </a:r>
            <a:endParaRPr lang="en-US" sz="145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50" dirty="0">
                <a:solidFill>
                  <a:srgbClr val="0518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Keep presentation assets editable and simple so the whole team can revise them quickly.</a:t>
            </a:r>
            <a:endParaRPr lang="en-US" sz="145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50" dirty="0">
                <a:solidFill>
                  <a:srgbClr val="0518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Deployment should be tested before final recording so the screen capture shows the live site smoothly.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502920" y="6473952"/>
            <a:ext cx="10698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7A8191"/>
                </a:solidFill>
              </a:rPr>
              <a:t>Moffat Bay Marina • Group Green • CSD460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200">
                <a:solidFill>
                  <a:srgbClr val="7A8191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11</a:t>
            </a:fld>
            <a:endParaRPr lang="en-US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11556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B23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 Capture Plan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02920" y="886968"/>
            <a:ext cx="960120" cy="0"/>
          </a:xfrm>
          <a:prstGeom prst="line">
            <a:avLst/>
          </a:prstGeom>
          <a:noFill/>
          <a:ln w="38100">
            <a:solidFill>
              <a:srgbClr val="F1B632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502920" y="987552"/>
            <a:ext cx="11155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860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Voice-over walkthrough order for the live-site recording.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85800" y="1417320"/>
            <a:ext cx="5577840" cy="41148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r>
              <a:rPr lang="en-US" sz="1260" dirty="0">
                <a:solidFill>
                  <a:srgbClr val="0518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Landing Page: introduce the marina and public navigation.</a:t>
            </a:r>
            <a:endParaRPr lang="en-US" sz="1260" dirty="0"/>
          </a:p>
          <a:p>
            <a:r>
              <a:rPr lang="en-US" sz="1260" dirty="0">
                <a:solidFill>
                  <a:srgbClr val="0518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About Us: explain marina purpose and public information.</a:t>
            </a:r>
            <a:endParaRPr lang="en-US" sz="1260" dirty="0"/>
          </a:p>
          <a:p>
            <a:r>
              <a:rPr lang="en-US" sz="1260" dirty="0">
                <a:solidFill>
                  <a:srgbClr val="0518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Contact Us: show contact options/form.</a:t>
            </a:r>
            <a:endParaRPr lang="en-US" sz="1260" dirty="0"/>
          </a:p>
          <a:p>
            <a:r>
              <a:rPr lang="en-US" sz="1260" dirty="0">
                <a:solidFill>
                  <a:srgbClr val="0518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User Registration: create or review account setup.</a:t>
            </a:r>
            <a:endParaRPr lang="en-US" sz="1260" dirty="0"/>
          </a:p>
          <a:p>
            <a:r>
              <a:rPr lang="en-US" sz="1260" dirty="0">
                <a:solidFill>
                  <a:srgbClr val="0518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Login: sign in as a customer.</a:t>
            </a:r>
            <a:endParaRPr lang="en-US" sz="1260" dirty="0"/>
          </a:p>
          <a:p>
            <a:r>
              <a:rPr lang="en-US" sz="1260" dirty="0">
                <a:solidFill>
                  <a:srgbClr val="0518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Slip Reservation: enter boat/reservation information.</a:t>
            </a:r>
            <a:endParaRPr lang="en-US" sz="1260" dirty="0"/>
          </a:p>
          <a:p>
            <a:r>
              <a:rPr lang="en-US" sz="1260" dirty="0">
                <a:solidFill>
                  <a:srgbClr val="0518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 Reservation Summary: review reservation details.</a:t>
            </a:r>
            <a:endParaRPr lang="en-US" sz="1260" dirty="0"/>
          </a:p>
          <a:p>
            <a:r>
              <a:rPr lang="en-US" sz="1260" dirty="0">
                <a:solidFill>
                  <a:srgbClr val="0518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 Look Up Reservation: retrieve a reservation by ID/email.</a:t>
            </a:r>
            <a:endParaRPr lang="en-US" sz="1260" dirty="0"/>
          </a:p>
          <a:p>
            <a:r>
              <a:rPr lang="en-US" sz="1260" dirty="0">
                <a:solidFill>
                  <a:srgbClr val="0518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 Wait List Lookup: show availability/wait list result once Module 9 is finalized.</a:t>
            </a:r>
            <a:endParaRPr lang="en-US" sz="1260" dirty="0"/>
          </a:p>
        </p:txBody>
      </p:sp>
      <p:pic>
        <p:nvPicPr>
          <p:cNvPr id="6" name="Image 0" descr="/mnt/data/8c20478c-4f82-415f-85a7-5f9c55a9414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92664" y="1417320"/>
            <a:ext cx="4245472" cy="26517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583680" y="4142232"/>
            <a:ext cx="4663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586073"/>
                </a:solidFill>
              </a:rPr>
              <a:t>Example page for screen capture flow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502920" y="6473952"/>
            <a:ext cx="10698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7A8191"/>
                </a:solidFill>
              </a:rPr>
              <a:t>Moffat Bay Marina • Group Green • CSD460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200">
                <a:solidFill>
                  <a:srgbClr val="7A8191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12</a:t>
            </a:fld>
            <a:endParaRPr lang="en-US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231</TotalTime>
  <Words>1000</Words>
  <Application>Microsoft Office PowerPoint</Application>
  <PresentationFormat>Widescreen</PresentationFormat>
  <Paragraphs>138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Jordan Dardar</dc:creator>
  <cp:lastModifiedBy>max jankowski</cp:lastModifiedBy>
  <cp:revision>9</cp:revision>
  <dcterms:created xsi:type="dcterms:W3CDTF">2026-09-24T02:15:43Z</dcterms:created>
  <dcterms:modified xsi:type="dcterms:W3CDTF">2026-10-04T04:18:15Z</dcterms:modified>
</cp:coreProperties>
</file>