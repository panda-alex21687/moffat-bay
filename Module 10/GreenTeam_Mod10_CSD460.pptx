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9" r:id="rId3"/>
    <p:sldId id="260"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60828"/>
  </p:normalViewPr>
  <p:slideViewPr>
    <p:cSldViewPr snapToGrid="0">
      <p:cViewPr varScale="1">
        <p:scale>
          <a:sx n="65" d="100"/>
          <a:sy n="65" d="100"/>
        </p:scale>
        <p:origin x="147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Dardar" userId="bf7b334d40b61af5" providerId="LiveId" clId="{4E158AB8-6A65-4C9B-B92F-5C42AE9A8D85}"/>
    <pc:docChg chg="undo custSel addSld delSld modSld">
      <pc:chgData name="Jordan Dardar" userId="bf7b334d40b61af5" providerId="LiveId" clId="{4E158AB8-6A65-4C9B-B92F-5C42AE9A8D85}" dt="2026-09-24T02:29:06.883" v="41" actId="12"/>
      <pc:docMkLst>
        <pc:docMk/>
      </pc:docMkLst>
      <pc:sldChg chg="modSp mod">
        <pc:chgData name="Jordan Dardar" userId="bf7b334d40b61af5" providerId="LiveId" clId="{4E158AB8-6A65-4C9B-B92F-5C42AE9A8D85}" dt="2026-09-24T02:26:25.222" v="27" actId="14100"/>
        <pc:sldMkLst>
          <pc:docMk/>
          <pc:sldMk cId="0" sldId="257"/>
        </pc:sldMkLst>
        <pc:spChg chg="mod">
          <ac:chgData name="Jordan Dardar" userId="bf7b334d40b61af5" providerId="LiveId" clId="{4E158AB8-6A65-4C9B-B92F-5C42AE9A8D85}" dt="2026-09-24T02:26:25.222" v="27" actId="14100"/>
          <ac:spMkLst>
            <pc:docMk/>
            <pc:sldMk cId="0" sldId="257"/>
            <ac:spMk id="8" creationId="{00000000-0000-0000-0000-000000000000}"/>
          </ac:spMkLst>
        </pc:spChg>
        <pc:spChg chg="mod">
          <ac:chgData name="Jordan Dardar" userId="bf7b334d40b61af5" providerId="LiveId" clId="{4E158AB8-6A65-4C9B-B92F-5C42AE9A8D85}" dt="2026-09-24T02:26:16.287" v="25" actId="20577"/>
          <ac:spMkLst>
            <pc:docMk/>
            <pc:sldMk cId="0" sldId="257"/>
            <ac:spMk id="9" creationId="{00000000-0000-0000-0000-000000000000}"/>
          </ac:spMkLst>
        </pc:spChg>
      </pc:sldChg>
      <pc:sldChg chg="del">
        <pc:chgData name="Jordan Dardar" userId="bf7b334d40b61af5" providerId="LiveId" clId="{4E158AB8-6A65-4C9B-B92F-5C42AE9A8D85}" dt="2026-09-24T02:26:02.279" v="24" actId="47"/>
        <pc:sldMkLst>
          <pc:docMk/>
          <pc:sldMk cId="0" sldId="258"/>
        </pc:sldMkLst>
      </pc:sldChg>
      <pc:sldChg chg="delSp mod">
        <pc:chgData name="Jordan Dardar" userId="bf7b334d40b61af5" providerId="LiveId" clId="{4E158AB8-6A65-4C9B-B92F-5C42AE9A8D85}" dt="2026-09-24T02:26:44.161" v="29" actId="21"/>
        <pc:sldMkLst>
          <pc:docMk/>
          <pc:sldMk cId="0" sldId="259"/>
        </pc:sldMkLst>
        <pc:spChg chg="del">
          <ac:chgData name="Jordan Dardar" userId="bf7b334d40b61af5" providerId="LiveId" clId="{4E158AB8-6A65-4C9B-B92F-5C42AE9A8D85}" dt="2026-09-24T02:26:40.463" v="28" actId="21"/>
          <ac:spMkLst>
            <pc:docMk/>
            <pc:sldMk cId="0" sldId="259"/>
            <ac:spMk id="17" creationId="{00000000-0000-0000-0000-000000000000}"/>
          </ac:spMkLst>
        </pc:spChg>
        <pc:spChg chg="del">
          <ac:chgData name="Jordan Dardar" userId="bf7b334d40b61af5" providerId="LiveId" clId="{4E158AB8-6A65-4C9B-B92F-5C42AE9A8D85}" dt="2026-09-24T02:26:44.161" v="29" actId="21"/>
          <ac:spMkLst>
            <pc:docMk/>
            <pc:sldMk cId="0" sldId="259"/>
            <ac:spMk id="18" creationId="{00000000-0000-0000-0000-000000000000}"/>
          </ac:spMkLst>
        </pc:spChg>
      </pc:sldChg>
      <pc:sldChg chg="modSp mod">
        <pc:chgData name="Jordan Dardar" userId="bf7b334d40b61af5" providerId="LiveId" clId="{4E158AB8-6A65-4C9B-B92F-5C42AE9A8D85}" dt="2026-09-24T02:28:24.162" v="37" actId="20577"/>
        <pc:sldMkLst>
          <pc:docMk/>
          <pc:sldMk cId="0" sldId="266"/>
        </pc:sldMkLst>
        <pc:spChg chg="mod">
          <ac:chgData name="Jordan Dardar" userId="bf7b334d40b61af5" providerId="LiveId" clId="{4E158AB8-6A65-4C9B-B92F-5C42AE9A8D85}" dt="2026-09-24T02:28:24.162" v="37" actId="20577"/>
          <ac:spMkLst>
            <pc:docMk/>
            <pc:sldMk cId="0" sldId="266"/>
            <ac:spMk id="36" creationId="{00000000-0000-0000-0000-000000000000}"/>
          </ac:spMkLst>
        </pc:spChg>
      </pc:sldChg>
      <pc:sldChg chg="delSp modSp mod">
        <pc:chgData name="Jordan Dardar" userId="bf7b334d40b61af5" providerId="LiveId" clId="{4E158AB8-6A65-4C9B-B92F-5C42AE9A8D85}" dt="2026-09-24T02:29:06.883" v="41" actId="12"/>
        <pc:sldMkLst>
          <pc:docMk/>
          <pc:sldMk cId="0" sldId="267"/>
        </pc:sldMkLst>
        <pc:spChg chg="mod">
          <ac:chgData name="Jordan Dardar" userId="bf7b334d40b61af5" providerId="LiveId" clId="{4E158AB8-6A65-4C9B-B92F-5C42AE9A8D85}" dt="2026-09-24T02:29:06.883" v="41" actId="12"/>
          <ac:spMkLst>
            <pc:docMk/>
            <pc:sldMk cId="0" sldId="267"/>
            <ac:spMk id="5" creationId="{00000000-0000-0000-0000-000000000000}"/>
          </ac:spMkLst>
        </pc:spChg>
        <pc:spChg chg="del">
          <ac:chgData name="Jordan Dardar" userId="bf7b334d40b61af5" providerId="LiveId" clId="{4E158AB8-6A65-4C9B-B92F-5C42AE9A8D85}" dt="2026-09-24T02:28:49.454" v="39" actId="478"/>
          <ac:spMkLst>
            <pc:docMk/>
            <pc:sldMk cId="0" sldId="267"/>
            <ac:spMk id="7" creationId="{00000000-0000-0000-0000-000000000000}"/>
          </ac:spMkLst>
        </pc:spChg>
        <pc:picChg chg="del">
          <ac:chgData name="Jordan Dardar" userId="bf7b334d40b61af5" providerId="LiveId" clId="{4E158AB8-6A65-4C9B-B92F-5C42AE9A8D85}" dt="2026-09-24T02:28:46.967" v="38" actId="478"/>
          <ac:picMkLst>
            <pc:docMk/>
            <pc:sldMk cId="0" sldId="267"/>
            <ac:picMk id="6" creationId="{00000000-0000-0000-0000-000000000000}"/>
          </ac:picMkLst>
        </pc:picChg>
      </pc:sldChg>
      <pc:sldChg chg="delSp modSp mod">
        <pc:chgData name="Jordan Dardar" userId="bf7b334d40b61af5" providerId="LiveId" clId="{4E158AB8-6A65-4C9B-B92F-5C42AE9A8D85}" dt="2026-09-24T02:18:59.839" v="4" actId="21"/>
        <pc:sldMkLst>
          <pc:docMk/>
          <pc:sldMk cId="0" sldId="268"/>
        </pc:sldMkLst>
        <pc:spChg chg="del">
          <ac:chgData name="Jordan Dardar" userId="bf7b334d40b61af5" providerId="LiveId" clId="{4E158AB8-6A65-4C9B-B92F-5C42AE9A8D85}" dt="2026-09-24T02:18:54.250" v="2" actId="21"/>
          <ac:spMkLst>
            <pc:docMk/>
            <pc:sldMk cId="0" sldId="268"/>
            <ac:spMk id="8" creationId="{00000000-0000-0000-0000-000000000000}"/>
          </ac:spMkLst>
        </pc:spChg>
        <pc:spChg chg="del mod">
          <ac:chgData name="Jordan Dardar" userId="bf7b334d40b61af5" providerId="LiveId" clId="{4E158AB8-6A65-4C9B-B92F-5C42AE9A8D85}" dt="2026-09-24T02:18:59.839" v="4" actId="21"/>
          <ac:spMkLst>
            <pc:docMk/>
            <pc:sldMk cId="0" sldId="268"/>
            <ac:spMk id="9" creationId="{00000000-0000-0000-0000-000000000000}"/>
          </ac:spMkLst>
        </pc:spChg>
      </pc:sldChg>
      <pc:sldChg chg="new del">
        <pc:chgData name="Jordan Dardar" userId="bf7b334d40b61af5" providerId="LiveId" clId="{4E158AB8-6A65-4C9B-B92F-5C42AE9A8D85}" dt="2026-09-24T02:18:38.119" v="1" actId="680"/>
        <pc:sldMkLst>
          <pc:docMk/>
          <pc:sldMk cId="510275257"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80B674-E533-421D-B90A-C78CB3E706F7}"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64AD15-FF3F-4BF8-8D5E-5F7E97A29E76}" type="slidenum">
              <a:rPr lang="en-US" smtClean="0"/>
              <a:t>‹#›</a:t>
            </a:fld>
            <a:endParaRPr lang="en-US"/>
          </a:p>
        </p:txBody>
      </p:sp>
    </p:spTree>
    <p:extLst>
      <p:ext uri="{BB962C8B-B14F-4D97-AF65-F5344CB8AC3E}">
        <p14:creationId xmlns:p14="http://schemas.microsoft.com/office/powerpoint/2010/main" val="48485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Hello, my name is Alexander Baldree, and this presentation is about our Moffat Bay Marina project for CSD 460. Our group is Group Green, and the team includes Jordan Dardar, </a:t>
            </a:r>
            <a:r>
              <a:rPr lang="en-US" sz="1200" kern="1200" dirty="0" err="1">
                <a:solidFill>
                  <a:schemeClr val="tx1"/>
                </a:solidFill>
                <a:effectLst/>
                <a:latin typeface="+mn-lt"/>
                <a:ea typeface="+mn-ea"/>
                <a:cs typeface="+mn-cs"/>
              </a:rPr>
              <a:t>Aftabur</a:t>
            </a:r>
            <a:r>
              <a:rPr lang="en-US" sz="1200" kern="1200" dirty="0">
                <a:solidFill>
                  <a:schemeClr val="tx1"/>
                </a:solidFill>
                <a:effectLst/>
                <a:latin typeface="+mn-lt"/>
                <a:ea typeface="+mn-ea"/>
                <a:cs typeface="+mn-cs"/>
              </a:rPr>
              <a:t> Rahman, myself, and </a:t>
            </a:r>
            <a:r>
              <a:rPr lang="en-US" sz="1200" kern="1200" dirty="0" err="1">
                <a:solidFill>
                  <a:schemeClr val="tx1"/>
                </a:solidFill>
                <a:effectLst/>
                <a:latin typeface="+mn-lt"/>
                <a:ea typeface="+mn-ea"/>
                <a:cs typeface="+mn-cs"/>
              </a:rPr>
              <a:t>Maksvmilian</a:t>
            </a:r>
            <a:r>
              <a:rPr lang="en-US" sz="1200" kern="1200" dirty="0">
                <a:solidFill>
                  <a:schemeClr val="tx1"/>
                </a:solidFill>
                <a:effectLst/>
                <a:latin typeface="+mn-lt"/>
                <a:ea typeface="+mn-ea"/>
                <a:cs typeface="+mn-cs"/>
              </a:rPr>
              <a:t> Jankowski.</a:t>
            </a:r>
          </a:p>
          <a:p>
            <a:r>
              <a:rPr lang="en-US" sz="1200" kern="1200" dirty="0">
                <a:solidFill>
                  <a:schemeClr val="tx1"/>
                </a:solidFill>
                <a:effectLst/>
                <a:latin typeface="+mn-lt"/>
                <a:ea typeface="+mn-ea"/>
                <a:cs typeface="+mn-cs"/>
              </a:rPr>
              <a:t>For this project, we worked together to build and test a marina reservation website. In this presentation, I’m going to go over the main parts of our prototype, how the customer uses the system, some of the testing we completed, and a few things we learned while working through the project.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this project, everyone had different responsibilities, but we also helped each other when needed.</a:t>
            </a:r>
          </a:p>
          <a:p>
            <a:r>
              <a:rPr lang="en-US" sz="1200" kern="1200" dirty="0">
                <a:solidFill>
                  <a:schemeClr val="tx1"/>
                </a:solidFill>
                <a:effectLst/>
                <a:latin typeface="+mn-lt"/>
                <a:ea typeface="+mn-ea"/>
                <a:cs typeface="+mn-cs"/>
              </a:rPr>
              <a:t>Jordan worked on the presentation draft, screenshots, peer testing support, and the final review.</a:t>
            </a:r>
          </a:p>
          <a:p>
            <a:r>
              <a:rPr lang="en-US" sz="1200" kern="1200" dirty="0" err="1">
                <a:solidFill>
                  <a:schemeClr val="tx1"/>
                </a:solidFill>
                <a:effectLst/>
                <a:latin typeface="+mn-lt"/>
                <a:ea typeface="+mn-ea"/>
                <a:cs typeface="+mn-cs"/>
              </a:rPr>
              <a:t>Aftabur</a:t>
            </a:r>
            <a:r>
              <a:rPr lang="en-US" sz="1200" kern="1200" dirty="0">
                <a:solidFill>
                  <a:schemeClr val="tx1"/>
                </a:solidFill>
                <a:effectLst/>
                <a:latin typeface="+mn-lt"/>
                <a:ea typeface="+mn-ea"/>
                <a:cs typeface="+mn-cs"/>
              </a:rPr>
              <a:t> helped with backend work, testing, and peer test documentation.</a:t>
            </a:r>
          </a:p>
          <a:p>
            <a:r>
              <a:rPr lang="en-US" sz="1200" kern="1200" dirty="0">
                <a:solidFill>
                  <a:schemeClr val="tx1"/>
                </a:solidFill>
                <a:effectLst/>
                <a:latin typeface="+mn-lt"/>
                <a:ea typeface="+mn-ea"/>
                <a:cs typeface="+mn-cs"/>
              </a:rPr>
              <a:t>My main responsibilities were team coordination and helping with project deployment. I also helped make sure the different parts of the project worked together as we moved closer to the final version.</a:t>
            </a:r>
          </a:p>
          <a:p>
            <a:r>
              <a:rPr lang="en-US" sz="1200" kern="1200" dirty="0">
                <a:solidFill>
                  <a:schemeClr val="tx1"/>
                </a:solidFill>
                <a:effectLst/>
                <a:latin typeface="+mn-lt"/>
                <a:ea typeface="+mn-ea"/>
                <a:cs typeface="+mn-cs"/>
              </a:rPr>
              <a:t>Max mainly worked on the Module 9 wait list feature, SQL scripts, and functional testing.</a:t>
            </a:r>
          </a:p>
          <a:p>
            <a:r>
              <a:rPr lang="en-US" sz="1200" kern="1200" dirty="0">
                <a:solidFill>
                  <a:schemeClr val="tx1"/>
                </a:solidFill>
                <a:effectLst/>
                <a:latin typeface="+mn-lt"/>
                <a:ea typeface="+mn-ea"/>
                <a:cs typeface="+mn-cs"/>
              </a:rPr>
              <a:t>Even though we had different roles, a lot of the work connected together, so communication between the team was important.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Our Moffat Bay Marina project is a customer reservation system for a marina.</a:t>
            </a:r>
          </a:p>
          <a:p>
            <a:r>
              <a:rPr lang="en-US" sz="1200" kern="1200" dirty="0">
                <a:solidFill>
                  <a:schemeClr val="tx1"/>
                </a:solidFill>
                <a:effectLst/>
                <a:latin typeface="+mn-lt"/>
                <a:ea typeface="+mn-ea"/>
                <a:cs typeface="+mn-cs"/>
              </a:rPr>
              <a:t>The public side of the website allows visitors to look through information about the marina, contact information, and pricing before they log in.</a:t>
            </a:r>
          </a:p>
          <a:p>
            <a:r>
              <a:rPr lang="en-US" sz="1200" kern="1200" dirty="0">
                <a:solidFill>
                  <a:schemeClr val="tx1"/>
                </a:solidFill>
                <a:effectLst/>
                <a:latin typeface="+mn-lt"/>
                <a:ea typeface="+mn-ea"/>
                <a:cs typeface="+mn-cs"/>
              </a:rPr>
              <a:t>Once a customer creates an account and logs in, they can reserve a marina slip, review their reservation information, and look up a reservation later.</a:t>
            </a:r>
          </a:p>
          <a:p>
            <a:r>
              <a:rPr lang="en-US" sz="1200" kern="1200" dirty="0">
                <a:solidFill>
                  <a:schemeClr val="tx1"/>
                </a:solidFill>
                <a:effectLst/>
                <a:latin typeface="+mn-lt"/>
                <a:ea typeface="+mn-ea"/>
                <a:cs typeface="+mn-cs"/>
              </a:rPr>
              <a:t>For Module 9, we also added more support for the wait list and database-backed availability.</a:t>
            </a:r>
          </a:p>
          <a:p>
            <a:r>
              <a:rPr lang="en-US" sz="1200" kern="1200" dirty="0">
                <a:solidFill>
                  <a:schemeClr val="tx1"/>
                </a:solidFill>
                <a:effectLst/>
                <a:latin typeface="+mn-lt"/>
                <a:ea typeface="+mn-ea"/>
                <a:cs typeface="+mn-cs"/>
              </a:rPr>
              <a:t>We tried to keep the website consistent across every page by using the same general navy and gold marina design.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some of the public pages from our website.</a:t>
            </a:r>
          </a:p>
          <a:p>
            <a:r>
              <a:rPr lang="en-US" sz="1200" kern="1200" dirty="0">
                <a:solidFill>
                  <a:schemeClr val="tx1"/>
                </a:solidFill>
                <a:effectLst/>
                <a:latin typeface="+mn-lt"/>
                <a:ea typeface="+mn-ea"/>
                <a:cs typeface="+mn-cs"/>
              </a:rPr>
              <a:t>These include the landing page, About Us page, and Contact Us information.</a:t>
            </a:r>
          </a:p>
          <a:p>
            <a:r>
              <a:rPr lang="en-US" sz="1200" kern="1200" dirty="0">
                <a:solidFill>
                  <a:schemeClr val="tx1"/>
                </a:solidFill>
                <a:effectLst/>
                <a:latin typeface="+mn-lt"/>
                <a:ea typeface="+mn-ea"/>
                <a:cs typeface="+mn-cs"/>
              </a:rPr>
              <a:t>The main goal of these pages is to give visitors useful information before they have to log in or create an account.</a:t>
            </a:r>
          </a:p>
          <a:p>
            <a:r>
              <a:rPr lang="en-US" sz="1200" kern="1200" dirty="0">
                <a:solidFill>
                  <a:schemeClr val="tx1"/>
                </a:solidFill>
                <a:effectLst/>
                <a:latin typeface="+mn-lt"/>
                <a:ea typeface="+mn-ea"/>
                <a:cs typeface="+mn-cs"/>
              </a:rPr>
              <a:t>The landing page gives the user a starting point for the website. The About Us section gives more information about the marina, and the contact information gives customers a way to reach out if they need help or have questions.</a:t>
            </a:r>
          </a:p>
          <a:p>
            <a:r>
              <a:rPr lang="en-US" sz="1200" kern="1200" dirty="0">
                <a:solidFill>
                  <a:schemeClr val="tx1"/>
                </a:solidFill>
                <a:effectLst/>
                <a:latin typeface="+mn-lt"/>
                <a:ea typeface="+mn-ea"/>
                <a:cs typeface="+mn-cs"/>
              </a:rPr>
              <a:t>Making these pages public helps the customer understand the marina and the services that are available before they move into the account or reservation process.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the customer account side of the website.</a:t>
            </a:r>
          </a:p>
          <a:p>
            <a:r>
              <a:rPr lang="en-US" sz="1200" kern="1200" dirty="0">
                <a:solidFill>
                  <a:schemeClr val="tx1"/>
                </a:solidFill>
                <a:effectLst/>
                <a:latin typeface="+mn-lt"/>
                <a:ea typeface="+mn-ea"/>
                <a:cs typeface="+mn-cs"/>
              </a:rPr>
              <a:t>The customer can either register for an account or log in with an existing account.</a:t>
            </a:r>
          </a:p>
          <a:p>
            <a:r>
              <a:rPr lang="en-US" sz="1200" kern="1200" dirty="0">
                <a:solidFill>
                  <a:schemeClr val="tx1"/>
                </a:solidFill>
                <a:effectLst/>
                <a:latin typeface="+mn-lt"/>
                <a:ea typeface="+mn-ea"/>
                <a:cs typeface="+mn-cs"/>
              </a:rPr>
              <a:t>Before they can access the private parts of the website, their login information has to be checked and validated.</a:t>
            </a:r>
          </a:p>
          <a:p>
            <a:r>
              <a:rPr lang="en-US" sz="1200" kern="1200" dirty="0">
                <a:solidFill>
                  <a:schemeClr val="tx1"/>
                </a:solidFill>
                <a:effectLst/>
                <a:latin typeface="+mn-lt"/>
                <a:ea typeface="+mn-ea"/>
                <a:cs typeface="+mn-cs"/>
              </a:rPr>
              <a:t>After they are logged in, they can access features such as pricing, reservations, account information, and the wait list process.</a:t>
            </a:r>
          </a:p>
          <a:p>
            <a:r>
              <a:rPr lang="en-US" sz="1200" kern="1200" dirty="0">
                <a:solidFill>
                  <a:schemeClr val="tx1"/>
                </a:solidFill>
                <a:effectLst/>
                <a:latin typeface="+mn-lt"/>
                <a:ea typeface="+mn-ea"/>
                <a:cs typeface="+mn-cs"/>
              </a:rPr>
              <a:t>One thing we wanted to make sure of was that the customer could move from the public pages into the logged-in part of the site without the process becoming confusing.</a:t>
            </a:r>
          </a:p>
          <a:p>
            <a:r>
              <a:rPr lang="en-US" sz="1200" kern="1200" dirty="0">
                <a:solidFill>
                  <a:schemeClr val="tx1"/>
                </a:solidFill>
                <a:effectLst/>
                <a:latin typeface="+mn-lt"/>
                <a:ea typeface="+mn-ea"/>
                <a:cs typeface="+mn-cs"/>
              </a:rPr>
              <a:t>Registration and login are also important parts of the final walkthrough because they show how the customer gets access to the main features of the site.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shows the main reservation process.</a:t>
            </a:r>
          </a:p>
          <a:p>
            <a:r>
              <a:rPr lang="en-US" sz="1200" kern="1200" dirty="0">
                <a:solidFill>
                  <a:schemeClr val="tx1"/>
                </a:solidFill>
                <a:effectLst/>
                <a:latin typeface="+mn-lt"/>
                <a:ea typeface="+mn-ea"/>
                <a:cs typeface="+mn-cs"/>
              </a:rPr>
              <a:t>The customer starts by entering information about their boat and the reservation they are trying to make.</a:t>
            </a:r>
          </a:p>
          <a:p>
            <a:r>
              <a:rPr lang="en-US" sz="1200" kern="1200" dirty="0">
                <a:solidFill>
                  <a:schemeClr val="tx1"/>
                </a:solidFill>
                <a:effectLst/>
                <a:latin typeface="+mn-lt"/>
                <a:ea typeface="+mn-ea"/>
                <a:cs typeface="+mn-cs"/>
              </a:rPr>
              <a:t>After the reservation is created, the reservation summary gives them a chance to review the information that was entered.</a:t>
            </a:r>
          </a:p>
          <a:p>
            <a:r>
              <a:rPr lang="en-US" sz="1200" kern="1200" dirty="0">
                <a:solidFill>
                  <a:schemeClr val="tx1"/>
                </a:solidFill>
                <a:effectLst/>
                <a:latin typeface="+mn-lt"/>
                <a:ea typeface="+mn-ea"/>
                <a:cs typeface="+mn-cs"/>
              </a:rPr>
              <a:t>We also created a reservation lookup feature so the customer can come back later and find their reservation using information such as the reservation ID and email address.</a:t>
            </a:r>
          </a:p>
          <a:p>
            <a:r>
              <a:rPr lang="en-US" sz="1200" kern="1200" dirty="0">
                <a:solidFill>
                  <a:schemeClr val="tx1"/>
                </a:solidFill>
                <a:effectLst/>
                <a:latin typeface="+mn-lt"/>
                <a:ea typeface="+mn-ea"/>
                <a:cs typeface="+mn-cs"/>
              </a:rPr>
              <a:t>This process is important because the customer should be able to make a reservation, review it, and then come back later without having to start everything over again.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Module 9 focused on the wait list lookup feature.</a:t>
            </a:r>
          </a:p>
          <a:p>
            <a:r>
              <a:rPr lang="en-US" sz="1200" kern="1200" dirty="0">
                <a:solidFill>
                  <a:schemeClr val="tx1"/>
                </a:solidFill>
                <a:effectLst/>
                <a:latin typeface="+mn-lt"/>
                <a:ea typeface="+mn-ea"/>
                <a:cs typeface="+mn-cs"/>
              </a:rPr>
              <a:t>The purpose of this feature is to work with the database and check whether a certain type of marina slip is available.</a:t>
            </a:r>
          </a:p>
          <a:p>
            <a:r>
              <a:rPr lang="en-US" sz="1200" kern="1200" dirty="0">
                <a:solidFill>
                  <a:schemeClr val="tx1"/>
                </a:solidFill>
                <a:effectLst/>
                <a:latin typeface="+mn-lt"/>
                <a:ea typeface="+mn-ea"/>
                <a:cs typeface="+mn-cs"/>
              </a:rPr>
              <a:t>If the slip is not available, the system can also use the wait list information to show how many customers are already waiting.</a:t>
            </a:r>
          </a:p>
          <a:p>
            <a:r>
              <a:rPr lang="en-US" sz="1200" kern="1200" dirty="0">
                <a:solidFill>
                  <a:schemeClr val="tx1"/>
                </a:solidFill>
                <a:effectLst/>
                <a:latin typeface="+mn-lt"/>
                <a:ea typeface="+mn-ea"/>
                <a:cs typeface="+mn-cs"/>
              </a:rPr>
              <a:t>Testing this feature is important because the information being shown to the customer needs to match the information stored in the database.</a:t>
            </a:r>
          </a:p>
          <a:p>
            <a:r>
              <a:rPr lang="en-US" sz="1200" kern="1200" dirty="0">
                <a:solidFill>
                  <a:schemeClr val="tx1"/>
                </a:solidFill>
                <a:effectLst/>
                <a:latin typeface="+mn-lt"/>
                <a:ea typeface="+mn-ea"/>
                <a:cs typeface="+mn-cs"/>
              </a:rPr>
              <a:t>At the time this presentation draft was made, some of the final screenshots and SQL test results were still being completed.</a:t>
            </a:r>
          </a:p>
          <a:p>
            <a:r>
              <a:rPr lang="en-US" sz="1200" kern="1200" dirty="0">
                <a:solidFill>
                  <a:schemeClr val="tx1"/>
                </a:solidFill>
                <a:effectLst/>
                <a:latin typeface="+mn-lt"/>
                <a:ea typeface="+mn-ea"/>
                <a:cs typeface="+mn-cs"/>
              </a:rPr>
              <a:t>There were also updates involving the electric option and departure date that still needed to be finished before this section was completely locked 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gives an overview of the database behind the project.</a:t>
            </a:r>
          </a:p>
          <a:p>
            <a:r>
              <a:rPr lang="en-US" sz="1200" kern="1200" dirty="0">
                <a:solidFill>
                  <a:schemeClr val="tx1"/>
                </a:solidFill>
                <a:effectLst/>
                <a:latin typeface="+mn-lt"/>
                <a:ea typeface="+mn-ea"/>
                <a:cs typeface="+mn-cs"/>
              </a:rPr>
              <a:t>The database stores the information needed for the website to work correctly.</a:t>
            </a:r>
          </a:p>
          <a:p>
            <a:r>
              <a:rPr lang="en-US" sz="1200" kern="1200" dirty="0">
                <a:solidFill>
                  <a:schemeClr val="tx1"/>
                </a:solidFill>
                <a:effectLst/>
                <a:latin typeface="+mn-lt"/>
                <a:ea typeface="+mn-ea"/>
                <a:cs typeface="+mn-cs"/>
              </a:rPr>
              <a:t>For customer accounts, this includes login information and contact details.</a:t>
            </a:r>
          </a:p>
          <a:p>
            <a:r>
              <a:rPr lang="en-US" sz="1200" kern="1200" dirty="0">
                <a:solidFill>
                  <a:schemeClr val="tx1"/>
                </a:solidFill>
                <a:effectLst/>
                <a:latin typeface="+mn-lt"/>
                <a:ea typeface="+mn-ea"/>
                <a:cs typeface="+mn-cs"/>
              </a:rPr>
              <a:t>For reservations, the database can store information such as the reservation ID, customer, boat name, boat length, check-in date, slip information, reservation status, and monthly cost.</a:t>
            </a:r>
          </a:p>
          <a:p>
            <a:r>
              <a:rPr lang="en-US" sz="1200" kern="1200" dirty="0">
                <a:solidFill>
                  <a:schemeClr val="tx1"/>
                </a:solidFill>
                <a:effectLst/>
                <a:latin typeface="+mn-lt"/>
                <a:ea typeface="+mn-ea"/>
                <a:cs typeface="+mn-cs"/>
              </a:rPr>
              <a:t>It also stores information about the available slips, including the slip type, size, availability, and wait list counts.</a:t>
            </a:r>
          </a:p>
          <a:p>
            <a:r>
              <a:rPr lang="en-US" sz="1200" kern="1200" dirty="0">
                <a:solidFill>
                  <a:schemeClr val="tx1"/>
                </a:solidFill>
                <a:effectLst/>
                <a:latin typeface="+mn-lt"/>
                <a:ea typeface="+mn-ea"/>
                <a:cs typeface="+mn-cs"/>
              </a:rPr>
              <a:t>Some of the tables connected to the project include customers, reservations, slips, slip types, wait list entries, and contact messages.</a:t>
            </a:r>
          </a:p>
          <a:p>
            <a:r>
              <a:rPr lang="en-US" sz="1200" kern="1200" dirty="0">
                <a:solidFill>
                  <a:schemeClr val="tx1"/>
                </a:solidFill>
                <a:effectLst/>
                <a:latin typeface="+mn-lt"/>
                <a:ea typeface="+mn-ea"/>
                <a:cs typeface="+mn-cs"/>
              </a:rPr>
              <a:t>One thing we learned during development was that changes to the database also have to match the Java code. If one side changes and the other does not, it can create problems in the application.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Testing was a big part of making sure the website worked correctly.</a:t>
            </a:r>
          </a:p>
          <a:p>
            <a:r>
              <a:rPr lang="en-US" sz="1200" kern="1200" dirty="0">
                <a:solidFill>
                  <a:schemeClr val="tx1"/>
                </a:solidFill>
                <a:effectLst/>
                <a:latin typeface="+mn-lt"/>
                <a:ea typeface="+mn-ea"/>
                <a:cs typeface="+mn-cs"/>
              </a:rPr>
              <a:t>We tested the landing page to make sure it could be opened without requiring a login.</a:t>
            </a:r>
          </a:p>
          <a:p>
            <a:r>
              <a:rPr lang="en-US" sz="1200" kern="1200" dirty="0">
                <a:solidFill>
                  <a:schemeClr val="tx1"/>
                </a:solidFill>
                <a:effectLst/>
                <a:latin typeface="+mn-lt"/>
                <a:ea typeface="+mn-ea"/>
                <a:cs typeface="+mn-cs"/>
              </a:rPr>
              <a:t>We also tested the About and Contact information to make sure those public areas were available.</a:t>
            </a:r>
          </a:p>
          <a:p>
            <a:r>
              <a:rPr lang="en-US" sz="1200" kern="1200" dirty="0">
                <a:solidFill>
                  <a:schemeClr val="tx1"/>
                </a:solidFill>
                <a:effectLst/>
                <a:latin typeface="+mn-lt"/>
                <a:ea typeface="+mn-ea"/>
                <a:cs typeface="+mn-cs"/>
              </a:rPr>
              <a:t>The login and account access were tested to make sure customers could get into the authenticated part of the website.</a:t>
            </a:r>
          </a:p>
          <a:p>
            <a:r>
              <a:rPr lang="en-US" sz="1200" kern="1200" dirty="0">
                <a:solidFill>
                  <a:schemeClr val="tx1"/>
                </a:solidFill>
                <a:effectLst/>
                <a:latin typeface="+mn-lt"/>
                <a:ea typeface="+mn-ea"/>
                <a:cs typeface="+mn-cs"/>
              </a:rPr>
              <a:t>We also tested the slip reservation flow, reservation summary information, and reservation lookup.</a:t>
            </a:r>
          </a:p>
          <a:p>
            <a:r>
              <a:rPr lang="en-US" sz="1200" kern="1200" dirty="0">
                <a:solidFill>
                  <a:schemeClr val="tx1"/>
                </a:solidFill>
                <a:effectLst/>
                <a:latin typeface="+mn-lt"/>
                <a:ea typeface="+mn-ea"/>
                <a:cs typeface="+mn-cs"/>
              </a:rPr>
              <a:t>For the wait list feature, the final database and SQL results were still connected to the Module 9 testing in this version of the presentation.</a:t>
            </a:r>
          </a:p>
          <a:p>
            <a:r>
              <a:rPr lang="en-US" sz="1200" kern="1200" dirty="0">
                <a:solidFill>
                  <a:schemeClr val="tx1"/>
                </a:solidFill>
                <a:effectLst/>
                <a:latin typeface="+mn-lt"/>
                <a:ea typeface="+mn-ea"/>
                <a:cs typeface="+mn-cs"/>
              </a:rPr>
              <a:t>We also tried to keep our testing documentation consistent by including the developer, tester, dates, pass or fail results, screenshots, and comments.</a:t>
            </a:r>
          </a:p>
          <a:p>
            <a:r>
              <a:rPr lang="en-US" sz="1200" kern="1200" dirty="0">
                <a:solidFill>
                  <a:schemeClr val="tx1"/>
                </a:solidFill>
                <a:effectLst/>
                <a:latin typeface="+mn-lt"/>
                <a:ea typeface="+mn-ea"/>
                <a:cs typeface="+mn-cs"/>
              </a:rPr>
              <a:t>This made it easier for us to see what was working and what still needed to be corrected.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were several things I learned while working on this project with the team.</a:t>
            </a:r>
          </a:p>
          <a:p>
            <a:r>
              <a:rPr lang="en-US" sz="1200" kern="1200" dirty="0">
                <a:solidFill>
                  <a:schemeClr val="tx1"/>
                </a:solidFill>
                <a:effectLst/>
                <a:latin typeface="+mn-lt"/>
                <a:ea typeface="+mn-ea"/>
                <a:cs typeface="+mn-cs"/>
              </a:rPr>
              <a:t>One of the biggest things was how important it is to keep the database and the Java code updated together.</a:t>
            </a:r>
          </a:p>
          <a:p>
            <a:r>
              <a:rPr lang="en-US" sz="1200" kern="1200" dirty="0">
                <a:solidFill>
                  <a:schemeClr val="tx1"/>
                </a:solidFill>
                <a:effectLst/>
                <a:latin typeface="+mn-lt"/>
                <a:ea typeface="+mn-ea"/>
                <a:cs typeface="+mn-cs"/>
              </a:rPr>
              <a:t>If someone changes something in the database but the code is still expecting the older version, it can cause errors pretty quickly.</a:t>
            </a:r>
          </a:p>
          <a:p>
            <a:r>
              <a:rPr lang="en-US" sz="1200" kern="1200" dirty="0">
                <a:solidFill>
                  <a:schemeClr val="tx1"/>
                </a:solidFill>
                <a:effectLst/>
                <a:latin typeface="+mn-lt"/>
                <a:ea typeface="+mn-ea"/>
                <a:cs typeface="+mn-cs"/>
              </a:rPr>
              <a:t>Another thing we learned was that using the same test plan format makes it easier for everyone to understand the results.</a:t>
            </a:r>
          </a:p>
          <a:p>
            <a:r>
              <a:rPr lang="en-US" sz="1200" kern="1200" dirty="0">
                <a:solidFill>
                  <a:schemeClr val="tx1"/>
                </a:solidFill>
                <a:effectLst/>
                <a:latin typeface="+mn-lt"/>
                <a:ea typeface="+mn-ea"/>
                <a:cs typeface="+mn-cs"/>
              </a:rPr>
              <a:t>Communication was also important. When the team communicated earlier about meetings, testing, or changes, it helped keep everyone working with the same information.</a:t>
            </a:r>
          </a:p>
          <a:p>
            <a:r>
              <a:rPr lang="en-US" sz="1200" kern="1200" dirty="0">
                <a:solidFill>
                  <a:schemeClr val="tx1"/>
                </a:solidFill>
                <a:effectLst/>
                <a:latin typeface="+mn-lt"/>
                <a:ea typeface="+mn-ea"/>
                <a:cs typeface="+mn-cs"/>
              </a:rPr>
              <a:t>We also learned that keeping our project files and presentation easy to edit made it easier for multiple people to update them.</a:t>
            </a:r>
          </a:p>
          <a:p>
            <a:r>
              <a:rPr lang="en-US" sz="1200" kern="1200" dirty="0">
                <a:solidFill>
                  <a:schemeClr val="tx1"/>
                </a:solidFill>
                <a:effectLst/>
                <a:latin typeface="+mn-lt"/>
                <a:ea typeface="+mn-ea"/>
                <a:cs typeface="+mn-cs"/>
              </a:rPr>
              <a:t>Deployment was another important part because we needed to make sure the live website worked before recording the final walkthrough.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our final screen capture, we planned to show the website in the same general order that a customer would use it.</a:t>
            </a:r>
          </a:p>
          <a:p>
            <a:r>
              <a:rPr lang="en-US" sz="1200" kern="1200" dirty="0">
                <a:solidFill>
                  <a:schemeClr val="tx1"/>
                </a:solidFill>
                <a:effectLst/>
                <a:latin typeface="+mn-lt"/>
                <a:ea typeface="+mn-ea"/>
                <a:cs typeface="+mn-cs"/>
              </a:rPr>
              <a:t>We would start on the landing page and show the main navigation and information about Moffat Bay Marina.</a:t>
            </a:r>
          </a:p>
          <a:p>
            <a:r>
              <a:rPr lang="en-US" sz="1200" kern="1200" dirty="0">
                <a:solidFill>
                  <a:schemeClr val="tx1"/>
                </a:solidFill>
                <a:effectLst/>
                <a:latin typeface="+mn-lt"/>
                <a:ea typeface="+mn-ea"/>
                <a:cs typeface="+mn-cs"/>
              </a:rPr>
              <a:t>From there, we would go to the About Us section and show the public information and contact options.</a:t>
            </a:r>
          </a:p>
          <a:p>
            <a:r>
              <a:rPr lang="en-US" sz="1200" kern="1200" dirty="0">
                <a:solidFill>
                  <a:schemeClr val="tx1"/>
                </a:solidFill>
                <a:effectLst/>
                <a:latin typeface="+mn-lt"/>
                <a:ea typeface="+mn-ea"/>
                <a:cs typeface="+mn-cs"/>
              </a:rPr>
              <a:t>Next, we would go through the registration process and then log into a customer account.</a:t>
            </a:r>
          </a:p>
          <a:p>
            <a:r>
              <a:rPr lang="en-US" sz="1200" kern="1200" dirty="0">
                <a:solidFill>
                  <a:schemeClr val="tx1"/>
                </a:solidFill>
                <a:effectLst/>
                <a:latin typeface="+mn-lt"/>
                <a:ea typeface="+mn-ea"/>
                <a:cs typeface="+mn-cs"/>
              </a:rPr>
              <a:t>After logging in, we would show the slip reservation process and enter the required boat and reservation information.</a:t>
            </a:r>
          </a:p>
          <a:p>
            <a:r>
              <a:rPr lang="en-US" sz="1200" kern="1200" dirty="0">
                <a:solidFill>
                  <a:schemeClr val="tx1"/>
                </a:solidFill>
                <a:effectLst/>
                <a:latin typeface="+mn-lt"/>
                <a:ea typeface="+mn-ea"/>
                <a:cs typeface="+mn-cs"/>
              </a:rPr>
              <a:t>Then we would review the reservation summary and show how the reservation can be found again using the lookup feature.</a:t>
            </a:r>
          </a:p>
          <a:p>
            <a:r>
              <a:rPr lang="en-US" sz="1200" kern="1200" dirty="0">
                <a:solidFill>
                  <a:schemeClr val="tx1"/>
                </a:solidFill>
                <a:effectLst/>
                <a:latin typeface="+mn-lt"/>
                <a:ea typeface="+mn-ea"/>
                <a:cs typeface="+mn-cs"/>
              </a:rPr>
              <a:t>The last part would be the wait list lookup, where we would show the availability and wait list information after the Module 9 work was finalized.</a:t>
            </a:r>
          </a:p>
          <a:p>
            <a:r>
              <a:rPr lang="en-US" sz="1200" kern="1200">
                <a:solidFill>
                  <a:schemeClr val="tx1"/>
                </a:solidFill>
                <a:effectLst/>
                <a:latin typeface="+mn-lt"/>
                <a:ea typeface="+mn-ea"/>
                <a:cs typeface="+mn-cs"/>
              </a:rPr>
              <a:t>Any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6AEB-A7BC-35DA-8C7E-596D4CDDA6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BB010-5C10-CDD3-1D3A-ABBEC1D568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3D6048-0D23-0C4B-83EF-B6AD2B13B0AB}"/>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290975D4-2DAC-6AD1-19E1-91303ED8F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1B00C8-AE16-A595-37AA-F9F63CE44FDE}"/>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3233687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253A7-7191-0E16-E091-442D66BF64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37A88C-C8B6-A055-4289-A5D7731E5D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9656D-CE50-46A8-2D25-70AA8AFB6E73}"/>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99A08FB6-5D8A-6670-8C98-9337F789E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1ED77-628F-FDBB-F6C3-9B7AB9FB87EC}"/>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2416843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2A48-D9D4-8BCF-AAFE-8FD38CA333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022FA8-A91D-CB65-F079-EEFCD266C0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ED6976-CF68-DF91-6B02-00425B54AEC6}"/>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4A5511AE-4166-5F51-1C95-B8D4A6041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D97E0E-E9D1-CDC4-0C1E-FC0B77351490}"/>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1837516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A50F-C4B7-3836-7286-EB93062E1F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EF2EA6-894D-CBB8-8B8C-C1564C0565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669C67-66E0-2D32-6649-768E47C039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99E78D-2C8B-3A3C-3F3C-3EA87D2235BF}"/>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6" name="Footer Placeholder 5">
            <a:extLst>
              <a:ext uri="{FF2B5EF4-FFF2-40B4-BE49-F238E27FC236}">
                <a16:creationId xmlns:a16="http://schemas.microsoft.com/office/drawing/2014/main" id="{034FB673-8CBC-D0C9-0331-DA0876F114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A1DFD2-AAB1-4951-ED2A-5332E5E1C37E}"/>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343242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1578F-8B25-29C3-E8DD-B9A9D4C341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AD5B82-D759-C072-A44D-B4C64A055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E34AFB-A87C-4DC9-1F50-16DA694D13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36855C-4A73-2D66-6FAB-3FDEEF550E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EA0F89-0C7E-F25B-FEA0-881B9B591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4E4239-D96B-4B3A-76EE-BD59953CC483}"/>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8" name="Footer Placeholder 7">
            <a:extLst>
              <a:ext uri="{FF2B5EF4-FFF2-40B4-BE49-F238E27FC236}">
                <a16:creationId xmlns:a16="http://schemas.microsoft.com/office/drawing/2014/main" id="{5F00722A-E620-8A5D-7690-17F0D72818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626883-C1F0-2AE3-08FC-1C14EDC55BF4}"/>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2607646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1D4CC-73D7-FDF0-A6FF-503628B90A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DED6AB-1036-5DAA-0811-2E04FEBE63AA}"/>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4" name="Footer Placeholder 3">
            <a:extLst>
              <a:ext uri="{FF2B5EF4-FFF2-40B4-BE49-F238E27FC236}">
                <a16:creationId xmlns:a16="http://schemas.microsoft.com/office/drawing/2014/main" id="{6C43BDC0-D4E8-1518-6A5B-5F183C21DE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D82A4D-A787-C015-7C41-F3CBCA17D458}"/>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1154642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BDE957-04B8-1F5C-F6A4-65988A3C6A68}"/>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3" name="Footer Placeholder 2">
            <a:extLst>
              <a:ext uri="{FF2B5EF4-FFF2-40B4-BE49-F238E27FC236}">
                <a16:creationId xmlns:a16="http://schemas.microsoft.com/office/drawing/2014/main" id="{2B944FD7-B6A8-4F40-F23D-05A442080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5EFC6A-B03C-263E-81E8-168E7F1B25BA}"/>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2745359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23A5-A6B8-ABD5-0F75-38DD68C4A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6E50E-FEE3-62F5-9CA5-BBCA6DCAA2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3E0DBF-3B03-211C-163E-C36D802AAB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2DE2D-9F7F-7F31-972C-AB428E798690}"/>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6" name="Footer Placeholder 5">
            <a:extLst>
              <a:ext uri="{FF2B5EF4-FFF2-40B4-BE49-F238E27FC236}">
                <a16:creationId xmlns:a16="http://schemas.microsoft.com/office/drawing/2014/main" id="{95771227-0EB8-2025-A88A-3DF8226F4A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967929-F24A-249B-1641-C6350FA78428}"/>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1064898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3141-9905-52F0-B31D-FA72D143B9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2A29C7-7566-E22C-1626-33E72DF1D8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5BDD13-F8CD-3146-C22C-23B7115361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BAA3C-F5C7-464C-2F6C-748F64120A36}"/>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6" name="Footer Placeholder 5">
            <a:extLst>
              <a:ext uri="{FF2B5EF4-FFF2-40B4-BE49-F238E27FC236}">
                <a16:creationId xmlns:a16="http://schemas.microsoft.com/office/drawing/2014/main" id="{FB76601F-C8A4-3D15-54EF-A491AA9F8E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70C572-3327-F9D5-98D1-E48B533D33D6}"/>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890657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51E6-6D12-A546-9EC1-FAF0D52014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C19592-9E39-4CE5-4095-B60CA1D0AE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81CAA2-EDD2-B5D2-CDEA-5C1F6949160B}"/>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8D8904CC-A8C9-C1B1-6F69-348BD7F4D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56E3D-AD4D-2E11-5418-146DF228AE71}"/>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7451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ED98D-31A8-B723-B909-8B13201753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F374C1-2DE6-864B-AA95-48FFB1EC5C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391BE-480C-5E1D-4A71-A70FD135DFD6}"/>
              </a:ext>
            </a:extLst>
          </p:cNvPr>
          <p:cNvSpPr>
            <a:spLocks noGrp="1"/>
          </p:cNvSpPr>
          <p:nvPr>
            <p:ph type="dt" sz="half" idx="10"/>
          </p:nvPr>
        </p:nvSpPr>
        <p:spPr/>
        <p:txBody>
          <a:body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6CEFC214-9052-CB2A-8691-80801F1BC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FE3D3-0B12-B224-B1F4-07854C4F2BCA}"/>
              </a:ext>
            </a:extLst>
          </p:cNvPr>
          <p:cNvSpPr>
            <a:spLocks noGrp="1"/>
          </p:cNvSpPr>
          <p:nvPr>
            <p:ph type="sldNum" sz="quarter" idx="12"/>
          </p:nvPr>
        </p:nvSpPr>
        <p:spPr/>
        <p:txBody>
          <a:bodyPr/>
          <a:lstStyle/>
          <a:p>
            <a:fld id="{86BB5014-0528-4632-915C-9B79A985D2A4}" type="slidenum">
              <a:rPr lang="en-US" smtClean="0"/>
              <a:t>‹#›</a:t>
            </a:fld>
            <a:endParaRPr lang="en-US"/>
          </a:p>
        </p:txBody>
      </p:sp>
    </p:spTree>
    <p:extLst>
      <p:ext uri="{BB962C8B-B14F-4D97-AF65-F5344CB8AC3E}">
        <p14:creationId xmlns:p14="http://schemas.microsoft.com/office/powerpoint/2010/main" val="182288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B2341"/>
          </a:solidFill>
          <a:ln w="12700">
            <a:solidFill>
              <a:srgbClr val="0B2341"/>
            </a:solidFill>
            <a:prstDash val="solid"/>
          </a:ln>
        </p:spPr>
        <p:txBody>
          <a:bodyPr/>
          <a:lstStyle/>
          <a:p>
            <a:endParaRPr lang="en-US"/>
          </a:p>
        </p:txBody>
      </p:sp>
      <p:sp>
        <p:nvSpPr>
          <p:cNvPr id="3" name="Shape 1"/>
          <p:cNvSpPr/>
          <p:nvPr/>
        </p:nvSpPr>
        <p:spPr>
          <a:xfrm>
            <a:off x="0" y="6702552"/>
            <a:ext cx="12191695" cy="155448"/>
          </a:xfrm>
          <a:prstGeom prst="rect">
            <a:avLst/>
          </a:prstGeom>
          <a:solidFill>
            <a:srgbClr val="F1B632"/>
          </a:solidFill>
          <a:ln w="12700">
            <a:solidFill>
              <a:srgbClr val="F1B632"/>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830316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625DA8-8FF8-64E9-AE00-641721E1A0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A0B7B3-AFF5-3908-CCED-F3597E73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472FB-0D3D-2127-829B-4E7C9818C4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DB1FFD-AAA5-4C9C-B77B-47D477C3549F}" type="datetimeFigureOut">
              <a:rPr lang="en-US" smtClean="0"/>
              <a:t>10/3/26</a:t>
            </a:fld>
            <a:endParaRPr lang="en-US"/>
          </a:p>
        </p:txBody>
      </p:sp>
      <p:sp>
        <p:nvSpPr>
          <p:cNvPr id="5" name="Footer Placeholder 4">
            <a:extLst>
              <a:ext uri="{FF2B5EF4-FFF2-40B4-BE49-F238E27FC236}">
                <a16:creationId xmlns:a16="http://schemas.microsoft.com/office/drawing/2014/main" id="{7978A6B4-3144-A2CC-750C-1F1DC851C6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19FEBE-A737-C28A-6634-1C66BFB09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BB5014-0528-4632-915C-9B79A985D2A4}" type="slidenum">
              <a:rPr lang="en-US" smtClean="0"/>
              <a:t>‹#›</a:t>
            </a:fld>
            <a:endParaRPr lang="en-US"/>
          </a:p>
        </p:txBody>
      </p:sp>
    </p:spTree>
    <p:extLst>
      <p:ext uri="{BB962C8B-B14F-4D97-AF65-F5344CB8AC3E}">
        <p14:creationId xmlns:p14="http://schemas.microsoft.com/office/powerpoint/2010/main" val="3253215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1051560"/>
            <a:ext cx="5577840" cy="502920"/>
          </a:xfrm>
          <a:prstGeom prst="rect">
            <a:avLst/>
          </a:prstGeom>
          <a:noFill/>
          <a:ln/>
        </p:spPr>
        <p:txBody>
          <a:bodyPr wrap="square" lIns="0" tIns="0" rIns="0" bIns="0" rtlCol="0" anchor="ctr"/>
          <a:lstStyle/>
          <a:p>
            <a:pPr marL="0" indent="0">
              <a:buNone/>
            </a:pPr>
            <a:r>
              <a:rPr lang="en-US" sz="2900" b="1" dirty="0">
                <a:solidFill>
                  <a:srgbClr val="0B2341"/>
                </a:solidFill>
              </a:rPr>
              <a:t>Moffat Bay Marina</a:t>
            </a:r>
            <a:endParaRPr lang="en-US" sz="2900" dirty="0"/>
          </a:p>
        </p:txBody>
      </p:sp>
      <p:sp>
        <p:nvSpPr>
          <p:cNvPr id="3" name="Text 1"/>
          <p:cNvSpPr/>
          <p:nvPr/>
        </p:nvSpPr>
        <p:spPr>
          <a:xfrm>
            <a:off x="685800" y="1627632"/>
            <a:ext cx="5577840" cy="347472"/>
          </a:xfrm>
          <a:prstGeom prst="rect">
            <a:avLst/>
          </a:prstGeom>
          <a:noFill/>
          <a:ln/>
        </p:spPr>
        <p:txBody>
          <a:bodyPr wrap="square" lIns="0" tIns="0" rIns="0" bIns="0" rtlCol="0" anchor="ctr"/>
          <a:lstStyle/>
          <a:p>
            <a:pPr marL="0" indent="0">
              <a:buNone/>
            </a:pPr>
            <a:r>
              <a:rPr lang="en-US" sz="1600" dirty="0">
                <a:solidFill>
                  <a:srgbClr val="586073"/>
                </a:solidFill>
              </a:rPr>
              <a:t>Module 10 QA Presentation Draft</a:t>
            </a:r>
            <a:endParaRPr lang="en-US" sz="1600" dirty="0"/>
          </a:p>
        </p:txBody>
      </p:sp>
      <p:sp>
        <p:nvSpPr>
          <p:cNvPr id="4" name="Shape 2"/>
          <p:cNvSpPr/>
          <p:nvPr/>
        </p:nvSpPr>
        <p:spPr>
          <a:xfrm>
            <a:off x="685800" y="2148840"/>
            <a:ext cx="1188720" cy="0"/>
          </a:xfrm>
          <a:prstGeom prst="line">
            <a:avLst/>
          </a:prstGeom>
          <a:noFill/>
          <a:ln w="50800">
            <a:solidFill>
              <a:srgbClr val="F1B632"/>
            </a:solidFill>
            <a:prstDash val="solid"/>
          </a:ln>
        </p:spPr>
        <p:txBody>
          <a:bodyPr/>
          <a:lstStyle/>
          <a:p>
            <a:endParaRPr lang="en-US"/>
          </a:p>
        </p:txBody>
      </p:sp>
      <p:sp>
        <p:nvSpPr>
          <p:cNvPr id="5" name="Text 3"/>
          <p:cNvSpPr/>
          <p:nvPr/>
        </p:nvSpPr>
        <p:spPr>
          <a:xfrm>
            <a:off x="685800" y="2487168"/>
            <a:ext cx="5303520" cy="914400"/>
          </a:xfrm>
          <a:prstGeom prst="rect">
            <a:avLst/>
          </a:prstGeom>
          <a:noFill/>
          <a:ln/>
        </p:spPr>
        <p:txBody>
          <a:bodyPr wrap="square" lIns="0" tIns="0" rIns="0" bIns="0" rtlCol="0" anchor="ctr"/>
          <a:lstStyle/>
          <a:p>
            <a:pPr marL="0" indent="0">
              <a:buNone/>
            </a:pPr>
            <a:r>
              <a:rPr lang="en-US" sz="1500" dirty="0">
                <a:solidFill>
                  <a:srgbClr val="0B2341"/>
                </a:solidFill>
              </a:rPr>
              <a:t>Group Green</a:t>
            </a:r>
            <a:endParaRPr lang="en-US" sz="1500" dirty="0"/>
          </a:p>
          <a:p>
            <a:pPr marL="0" indent="0">
              <a:buNone/>
            </a:pPr>
            <a:r>
              <a:rPr lang="en-US" sz="1500" dirty="0">
                <a:solidFill>
                  <a:srgbClr val="0B2341"/>
                </a:solidFill>
              </a:rPr>
              <a:t>Jordan Dardar • Aftabur Rahman • Alexander Baldree • Maksvmilian Jankowski</a:t>
            </a:r>
            <a:endParaRPr lang="en-US" sz="1500" dirty="0"/>
          </a:p>
        </p:txBody>
      </p:sp>
      <p:pic>
        <p:nvPicPr>
          <p:cNvPr id="6" name="Image 0" descr="/mnt/data/3b771257-8922-4866-8265-7756e1179804.png"/>
          <p:cNvPicPr>
            <a:picLocks noChangeAspect="1"/>
          </p:cNvPicPr>
          <p:nvPr/>
        </p:nvPicPr>
        <p:blipFill>
          <a:blip r:embed="rId3"/>
          <a:stretch>
            <a:fillRect/>
          </a:stretch>
        </p:blipFill>
        <p:spPr>
          <a:xfrm>
            <a:off x="6492240" y="1204000"/>
            <a:ext cx="5074920" cy="3169841"/>
          </a:xfrm>
          <a:prstGeom prst="rect">
            <a:avLst/>
          </a:prstGeom>
        </p:spPr>
      </p:pic>
      <p:sp>
        <p:nvSpPr>
          <p:cNvPr id="7" name="Text 4"/>
          <p:cNvSpPr/>
          <p:nvPr/>
        </p:nvSpPr>
        <p:spPr>
          <a:xfrm>
            <a:off x="6492240" y="4782312"/>
            <a:ext cx="507492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Current landing page prototype</a:t>
            </a:r>
            <a:endParaRPr lang="en-US" sz="950" dirty="0"/>
          </a:p>
        </p:txBody>
      </p:sp>
      <p:sp>
        <p:nvSpPr>
          <p:cNvPr id="8" name="Shape 5"/>
          <p:cNvSpPr/>
          <p:nvPr/>
        </p:nvSpPr>
        <p:spPr>
          <a:xfrm>
            <a:off x="685800" y="5074920"/>
            <a:ext cx="5715000" cy="658368"/>
          </a:xfrm>
          <a:prstGeom prst="rect">
            <a:avLst/>
          </a:prstGeom>
          <a:solidFill>
            <a:srgbClr val="F4F7FB"/>
          </a:solidFill>
          <a:ln w="12700">
            <a:solidFill>
              <a:srgbClr val="DDE5F0"/>
            </a:solidFill>
            <a:prstDash val="solid"/>
          </a:ln>
        </p:spPr>
        <p:txBody>
          <a:bodyPr/>
          <a:lstStyle/>
          <a:p>
            <a:endParaRPr lang="en-US"/>
          </a:p>
        </p:txBody>
      </p:sp>
      <p:sp>
        <p:nvSpPr>
          <p:cNvPr id="9" name="Text 6"/>
          <p:cNvSpPr/>
          <p:nvPr/>
        </p:nvSpPr>
        <p:spPr>
          <a:xfrm>
            <a:off x="850392" y="5202936"/>
            <a:ext cx="10552176" cy="402336"/>
          </a:xfrm>
          <a:prstGeom prst="rect">
            <a:avLst/>
          </a:prstGeom>
          <a:noFill/>
          <a:ln/>
        </p:spPr>
        <p:txBody>
          <a:bodyPr wrap="square" lIns="254" tIns="254" rIns="254" bIns="254" rtlCol="0" anchor="ctr">
            <a:normAutofit/>
          </a:bodyPr>
          <a:lstStyle/>
          <a:p>
            <a:pPr marL="0" indent="0">
              <a:buNone/>
            </a:pPr>
            <a:r>
              <a:rPr lang="en-US" sz="1250" dirty="0">
                <a:solidFill>
                  <a:srgbClr val="0B2341"/>
                </a:solidFill>
              </a:rPr>
              <a:t>Replace screenshots and test results as Module 9 and deployment are finalized.</a:t>
            </a:r>
            <a:endParaRPr lang="en-US" sz="1250" dirty="0"/>
          </a:p>
        </p:txBody>
      </p:sp>
      <p:sp>
        <p:nvSpPr>
          <p:cNvPr id="10" name="Text 7"/>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Team Introduction</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Group Green roles and current focus.</a:t>
            </a:r>
            <a:endParaRPr lang="en-US" sz="1200" dirty="0"/>
          </a:p>
        </p:txBody>
      </p:sp>
      <p:sp>
        <p:nvSpPr>
          <p:cNvPr id="5" name="Shape 3"/>
          <p:cNvSpPr/>
          <p:nvPr/>
        </p:nvSpPr>
        <p:spPr>
          <a:xfrm>
            <a:off x="731520" y="1325880"/>
            <a:ext cx="4937760" cy="1005840"/>
          </a:xfrm>
          <a:prstGeom prst="roundRect">
            <a:avLst>
              <a:gd name="adj" fmla="val 7273"/>
            </a:avLst>
          </a:prstGeom>
          <a:solidFill>
            <a:srgbClr val="F4F7FB"/>
          </a:solidFill>
          <a:ln w="12700">
            <a:solidFill>
              <a:srgbClr val="D9E1EC"/>
            </a:solidFill>
            <a:prstDash val="solid"/>
          </a:ln>
        </p:spPr>
        <p:txBody>
          <a:bodyPr/>
          <a:lstStyle/>
          <a:p>
            <a:endParaRPr lang="en-US"/>
          </a:p>
        </p:txBody>
      </p:sp>
      <p:sp>
        <p:nvSpPr>
          <p:cNvPr id="6" name="Text 4"/>
          <p:cNvSpPr/>
          <p:nvPr/>
        </p:nvSpPr>
        <p:spPr>
          <a:xfrm>
            <a:off x="932688" y="1490472"/>
            <a:ext cx="4480560" cy="201168"/>
          </a:xfrm>
          <a:prstGeom prst="rect">
            <a:avLst/>
          </a:prstGeom>
          <a:noFill/>
          <a:ln/>
        </p:spPr>
        <p:txBody>
          <a:bodyPr wrap="square" lIns="0" tIns="0" rIns="0" bIns="0" rtlCol="0" anchor="ctr"/>
          <a:lstStyle/>
          <a:p>
            <a:pPr marL="0" indent="0">
              <a:buNone/>
            </a:pPr>
            <a:r>
              <a:rPr lang="en-US" sz="1450" b="1" dirty="0">
                <a:solidFill>
                  <a:srgbClr val="0B2341"/>
                </a:solidFill>
              </a:rPr>
              <a:t>Jordan Dardar</a:t>
            </a:r>
            <a:endParaRPr lang="en-US" sz="1450" dirty="0"/>
          </a:p>
        </p:txBody>
      </p:sp>
      <p:sp>
        <p:nvSpPr>
          <p:cNvPr id="7" name="Text 5"/>
          <p:cNvSpPr/>
          <p:nvPr/>
        </p:nvSpPr>
        <p:spPr>
          <a:xfrm>
            <a:off x="932688" y="1783080"/>
            <a:ext cx="4480560" cy="411480"/>
          </a:xfrm>
          <a:prstGeom prst="rect">
            <a:avLst/>
          </a:prstGeom>
          <a:noFill/>
          <a:ln/>
        </p:spPr>
        <p:txBody>
          <a:bodyPr wrap="square" lIns="0" tIns="0" rIns="0" bIns="0" rtlCol="0" anchor="ctr">
            <a:normAutofit/>
          </a:bodyPr>
          <a:lstStyle/>
          <a:p>
            <a:pPr marL="0" indent="0">
              <a:buNone/>
            </a:pPr>
            <a:r>
              <a:rPr lang="en-US" sz="1150" dirty="0">
                <a:solidFill>
                  <a:srgbClr val="586073"/>
                </a:solidFill>
              </a:rPr>
              <a:t>Presentation draft, peer testing support, screenshots, final review</a:t>
            </a:r>
            <a:endParaRPr lang="en-US" sz="1150" dirty="0"/>
          </a:p>
        </p:txBody>
      </p:sp>
      <p:sp>
        <p:nvSpPr>
          <p:cNvPr id="8" name="Shape 6"/>
          <p:cNvSpPr/>
          <p:nvPr/>
        </p:nvSpPr>
        <p:spPr>
          <a:xfrm>
            <a:off x="6172200" y="1325880"/>
            <a:ext cx="4937760" cy="1005840"/>
          </a:xfrm>
          <a:prstGeom prst="roundRect">
            <a:avLst>
              <a:gd name="adj" fmla="val 7273"/>
            </a:avLst>
          </a:prstGeom>
          <a:solidFill>
            <a:srgbClr val="F4F7FB"/>
          </a:solidFill>
          <a:ln w="12700">
            <a:solidFill>
              <a:srgbClr val="D9E1EC"/>
            </a:solidFill>
            <a:prstDash val="solid"/>
          </a:ln>
        </p:spPr>
        <p:txBody>
          <a:bodyPr/>
          <a:lstStyle/>
          <a:p>
            <a:endParaRPr lang="en-US"/>
          </a:p>
        </p:txBody>
      </p:sp>
      <p:sp>
        <p:nvSpPr>
          <p:cNvPr id="9" name="Text 7"/>
          <p:cNvSpPr/>
          <p:nvPr/>
        </p:nvSpPr>
        <p:spPr>
          <a:xfrm>
            <a:off x="6373368" y="1490472"/>
            <a:ext cx="4480560" cy="201168"/>
          </a:xfrm>
          <a:prstGeom prst="rect">
            <a:avLst/>
          </a:prstGeom>
          <a:noFill/>
          <a:ln/>
        </p:spPr>
        <p:txBody>
          <a:bodyPr wrap="square" lIns="0" tIns="0" rIns="0" bIns="0" rtlCol="0" anchor="ctr"/>
          <a:lstStyle/>
          <a:p>
            <a:pPr marL="0" indent="0">
              <a:buNone/>
            </a:pPr>
            <a:r>
              <a:rPr lang="en-US" sz="1450" b="1" dirty="0">
                <a:solidFill>
                  <a:srgbClr val="0B2341"/>
                </a:solidFill>
              </a:rPr>
              <a:t>Aftabur Rahman</a:t>
            </a:r>
            <a:endParaRPr lang="en-US" sz="1450" dirty="0"/>
          </a:p>
        </p:txBody>
      </p:sp>
      <p:sp>
        <p:nvSpPr>
          <p:cNvPr id="10" name="Text 8"/>
          <p:cNvSpPr/>
          <p:nvPr/>
        </p:nvSpPr>
        <p:spPr>
          <a:xfrm>
            <a:off x="6373368" y="1783080"/>
            <a:ext cx="4480560" cy="411480"/>
          </a:xfrm>
          <a:prstGeom prst="rect">
            <a:avLst/>
          </a:prstGeom>
          <a:noFill/>
          <a:ln/>
        </p:spPr>
        <p:txBody>
          <a:bodyPr wrap="square" lIns="0" tIns="0" rIns="0" bIns="0" rtlCol="0" anchor="ctr">
            <a:normAutofit/>
          </a:bodyPr>
          <a:lstStyle/>
          <a:p>
            <a:pPr marL="0" indent="0">
              <a:buNone/>
            </a:pPr>
            <a:r>
              <a:rPr lang="en-US" sz="1150" dirty="0">
                <a:solidFill>
                  <a:srgbClr val="586073"/>
                </a:solidFill>
              </a:rPr>
              <a:t>Backend/test support and peer test documentation</a:t>
            </a:r>
            <a:endParaRPr lang="en-US" sz="1150" dirty="0"/>
          </a:p>
        </p:txBody>
      </p:sp>
      <p:sp>
        <p:nvSpPr>
          <p:cNvPr id="11" name="Shape 9"/>
          <p:cNvSpPr/>
          <p:nvPr/>
        </p:nvSpPr>
        <p:spPr>
          <a:xfrm>
            <a:off x="731520" y="2743200"/>
            <a:ext cx="4937760" cy="1005840"/>
          </a:xfrm>
          <a:prstGeom prst="roundRect">
            <a:avLst>
              <a:gd name="adj" fmla="val 7273"/>
            </a:avLst>
          </a:prstGeom>
          <a:solidFill>
            <a:srgbClr val="F4F7FB"/>
          </a:solidFill>
          <a:ln w="12700">
            <a:solidFill>
              <a:srgbClr val="D9E1EC"/>
            </a:solidFill>
            <a:prstDash val="solid"/>
          </a:ln>
        </p:spPr>
        <p:txBody>
          <a:bodyPr/>
          <a:lstStyle/>
          <a:p>
            <a:endParaRPr lang="en-US"/>
          </a:p>
        </p:txBody>
      </p:sp>
      <p:sp>
        <p:nvSpPr>
          <p:cNvPr id="12" name="Text 10"/>
          <p:cNvSpPr/>
          <p:nvPr/>
        </p:nvSpPr>
        <p:spPr>
          <a:xfrm>
            <a:off x="932688" y="2907792"/>
            <a:ext cx="4480560" cy="201168"/>
          </a:xfrm>
          <a:prstGeom prst="rect">
            <a:avLst/>
          </a:prstGeom>
          <a:noFill/>
          <a:ln/>
        </p:spPr>
        <p:txBody>
          <a:bodyPr wrap="square" lIns="0" tIns="0" rIns="0" bIns="0" rtlCol="0" anchor="ctr"/>
          <a:lstStyle/>
          <a:p>
            <a:pPr marL="0" indent="0">
              <a:buNone/>
            </a:pPr>
            <a:r>
              <a:rPr lang="en-US" sz="1450" b="1" dirty="0">
                <a:solidFill>
                  <a:srgbClr val="0B2341"/>
                </a:solidFill>
              </a:rPr>
              <a:t>Alexander Baldree</a:t>
            </a:r>
            <a:endParaRPr lang="en-US" sz="1450" dirty="0"/>
          </a:p>
        </p:txBody>
      </p:sp>
      <p:sp>
        <p:nvSpPr>
          <p:cNvPr id="13" name="Text 11"/>
          <p:cNvSpPr/>
          <p:nvPr/>
        </p:nvSpPr>
        <p:spPr>
          <a:xfrm>
            <a:off x="932688" y="3200400"/>
            <a:ext cx="4480560" cy="411480"/>
          </a:xfrm>
          <a:prstGeom prst="rect">
            <a:avLst/>
          </a:prstGeom>
          <a:noFill/>
          <a:ln/>
        </p:spPr>
        <p:txBody>
          <a:bodyPr wrap="square" lIns="0" tIns="0" rIns="0" bIns="0" rtlCol="0" anchor="ctr">
            <a:normAutofit/>
          </a:bodyPr>
          <a:lstStyle/>
          <a:p>
            <a:pPr marL="0" indent="0">
              <a:buNone/>
            </a:pPr>
            <a:r>
              <a:rPr lang="en-US" sz="1150" dirty="0">
                <a:solidFill>
                  <a:srgbClr val="586073"/>
                </a:solidFill>
              </a:rPr>
              <a:t>Team coordination and project deployment</a:t>
            </a:r>
            <a:endParaRPr lang="en-US" sz="1150" dirty="0"/>
          </a:p>
        </p:txBody>
      </p:sp>
      <p:sp>
        <p:nvSpPr>
          <p:cNvPr id="14" name="Shape 12"/>
          <p:cNvSpPr/>
          <p:nvPr/>
        </p:nvSpPr>
        <p:spPr>
          <a:xfrm>
            <a:off x="6172200" y="2743200"/>
            <a:ext cx="4937760" cy="1005840"/>
          </a:xfrm>
          <a:prstGeom prst="roundRect">
            <a:avLst>
              <a:gd name="adj" fmla="val 7273"/>
            </a:avLst>
          </a:prstGeom>
          <a:solidFill>
            <a:srgbClr val="F4F7FB"/>
          </a:solidFill>
          <a:ln w="12700">
            <a:solidFill>
              <a:srgbClr val="D9E1EC"/>
            </a:solidFill>
            <a:prstDash val="solid"/>
          </a:ln>
        </p:spPr>
        <p:txBody>
          <a:bodyPr/>
          <a:lstStyle/>
          <a:p>
            <a:endParaRPr lang="en-US"/>
          </a:p>
        </p:txBody>
      </p:sp>
      <p:sp>
        <p:nvSpPr>
          <p:cNvPr id="15" name="Text 13"/>
          <p:cNvSpPr/>
          <p:nvPr/>
        </p:nvSpPr>
        <p:spPr>
          <a:xfrm>
            <a:off x="6373368" y="2907792"/>
            <a:ext cx="4480560" cy="201168"/>
          </a:xfrm>
          <a:prstGeom prst="rect">
            <a:avLst/>
          </a:prstGeom>
          <a:noFill/>
          <a:ln/>
        </p:spPr>
        <p:txBody>
          <a:bodyPr wrap="square" lIns="0" tIns="0" rIns="0" bIns="0" rtlCol="0" anchor="ctr"/>
          <a:lstStyle/>
          <a:p>
            <a:pPr marL="0" indent="0">
              <a:buNone/>
            </a:pPr>
            <a:r>
              <a:rPr lang="en-US" sz="1450" b="1" dirty="0">
                <a:solidFill>
                  <a:srgbClr val="0B2341"/>
                </a:solidFill>
              </a:rPr>
              <a:t>Maksvmilian Jankowski</a:t>
            </a:r>
            <a:endParaRPr lang="en-US" sz="1450" dirty="0"/>
          </a:p>
        </p:txBody>
      </p:sp>
      <p:sp>
        <p:nvSpPr>
          <p:cNvPr id="16" name="Text 14"/>
          <p:cNvSpPr/>
          <p:nvPr/>
        </p:nvSpPr>
        <p:spPr>
          <a:xfrm>
            <a:off x="6373368" y="3200400"/>
            <a:ext cx="4480560" cy="411480"/>
          </a:xfrm>
          <a:prstGeom prst="rect">
            <a:avLst/>
          </a:prstGeom>
          <a:noFill/>
          <a:ln/>
        </p:spPr>
        <p:txBody>
          <a:bodyPr wrap="square" lIns="0" tIns="0" rIns="0" bIns="0" rtlCol="0" anchor="ctr">
            <a:normAutofit/>
          </a:bodyPr>
          <a:lstStyle/>
          <a:p>
            <a:pPr marL="0" indent="0">
              <a:buNone/>
            </a:pPr>
            <a:r>
              <a:rPr lang="en-US" sz="1150" dirty="0">
                <a:solidFill>
                  <a:srgbClr val="586073"/>
                </a:solidFill>
              </a:rPr>
              <a:t>Module 9 wait list work, SQL scripts, functional tests</a:t>
            </a:r>
            <a:endParaRPr lang="en-US" sz="1150" dirty="0"/>
          </a:p>
        </p:txBody>
      </p:sp>
      <p:sp>
        <p:nvSpPr>
          <p:cNvPr id="19" name="Text 17"/>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Prototype Overview</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Customer-facing marina reservation system.</a:t>
            </a:r>
            <a:endParaRPr lang="en-US" sz="1200" dirty="0"/>
          </a:p>
        </p:txBody>
      </p:sp>
      <p:pic>
        <p:nvPicPr>
          <p:cNvPr id="5" name="Image 0" descr="/mnt/data/3b771257-8922-4866-8265-7756e1179804.png"/>
          <p:cNvPicPr>
            <a:picLocks noChangeAspect="1"/>
          </p:cNvPicPr>
          <p:nvPr/>
        </p:nvPicPr>
        <p:blipFill>
          <a:blip r:embed="rId3"/>
          <a:stretch>
            <a:fillRect/>
          </a:stretch>
        </p:blipFill>
        <p:spPr>
          <a:xfrm>
            <a:off x="640080" y="1486973"/>
            <a:ext cx="5486400" cy="3426855"/>
          </a:xfrm>
          <a:prstGeom prst="rect">
            <a:avLst/>
          </a:prstGeom>
        </p:spPr>
      </p:pic>
      <p:sp>
        <p:nvSpPr>
          <p:cNvPr id="6" name="Text 3"/>
          <p:cNvSpPr/>
          <p:nvPr/>
        </p:nvSpPr>
        <p:spPr>
          <a:xfrm>
            <a:off x="640080" y="5056632"/>
            <a:ext cx="548640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Landing page</a:t>
            </a:r>
            <a:endParaRPr lang="en-US" sz="950" dirty="0"/>
          </a:p>
        </p:txBody>
      </p:sp>
      <p:sp>
        <p:nvSpPr>
          <p:cNvPr id="7" name="Text 4"/>
          <p:cNvSpPr/>
          <p:nvPr/>
        </p:nvSpPr>
        <p:spPr>
          <a:xfrm>
            <a:off x="6492240" y="1417320"/>
            <a:ext cx="4937760" cy="3108960"/>
          </a:xfrm>
          <a:prstGeom prst="rect">
            <a:avLst/>
          </a:prstGeom>
          <a:noFill/>
          <a:ln/>
        </p:spPr>
        <p:txBody>
          <a:bodyPr wrap="square" lIns="508" tIns="508" rIns="508" bIns="508" rtlCol="0" anchor="ctr">
            <a:normAutofit/>
          </a:bodyPr>
          <a:lstStyle/>
          <a:p>
            <a:r>
              <a:rPr lang="en-US" sz="1420" dirty="0">
                <a:solidFill>
                  <a:srgbClr val="05182F"/>
                </a:solidFill>
                <a:latin typeface="Arial" pitchFamily="34" charset="0"/>
                <a:ea typeface="Arial" pitchFamily="34" charset="-122"/>
                <a:cs typeface="Arial" pitchFamily="34" charset="-120"/>
              </a:rPr>
              <a:t>Public visitors can review marina details, contact information, and pricing before signing in.</a:t>
            </a:r>
            <a:endParaRPr lang="en-US" sz="1420" dirty="0"/>
          </a:p>
          <a:p>
            <a:r>
              <a:rPr lang="en-US" sz="1420" dirty="0">
                <a:solidFill>
                  <a:srgbClr val="05182F"/>
                </a:solidFill>
                <a:latin typeface="Arial" pitchFamily="34" charset="0"/>
                <a:ea typeface="Arial" pitchFamily="34" charset="-122"/>
                <a:cs typeface="Arial" pitchFamily="34" charset="-120"/>
              </a:rPr>
              <a:t>Customers can register, log in, reserve a marina slip, review reservation details, and look up reservations.</a:t>
            </a:r>
            <a:endParaRPr lang="en-US" sz="1420" dirty="0"/>
          </a:p>
          <a:p>
            <a:r>
              <a:rPr lang="en-US" sz="1420" dirty="0">
                <a:solidFill>
                  <a:srgbClr val="05182F"/>
                </a:solidFill>
                <a:latin typeface="Arial" pitchFamily="34" charset="0"/>
                <a:ea typeface="Arial" pitchFamily="34" charset="-122"/>
                <a:cs typeface="Arial" pitchFamily="34" charset="-120"/>
              </a:rPr>
              <a:t>Module 9 expands support for wait list lookup and database-backed availability checks.</a:t>
            </a:r>
            <a:endParaRPr lang="en-US" sz="1420" dirty="0"/>
          </a:p>
          <a:p>
            <a:r>
              <a:rPr lang="en-US" sz="1420" dirty="0">
                <a:solidFill>
                  <a:srgbClr val="05182F"/>
                </a:solidFill>
                <a:latin typeface="Arial" pitchFamily="34" charset="0"/>
                <a:ea typeface="Arial" pitchFamily="34" charset="-122"/>
                <a:cs typeface="Arial" pitchFamily="34" charset="-120"/>
              </a:rPr>
              <a:t>The design uses a consistent navy/gold marina theme across pages.</a:t>
            </a:r>
            <a:endParaRPr lang="en-US" sz="1420" dirty="0"/>
          </a:p>
        </p:txBody>
      </p:sp>
      <p:sp>
        <p:nvSpPr>
          <p:cNvPr id="8" name="Text 5"/>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Sample Prototypes: Public Pages</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Landing, About Us, and Contact Us pages.</a:t>
            </a:r>
            <a:endParaRPr lang="en-US" sz="1200" dirty="0"/>
          </a:p>
        </p:txBody>
      </p:sp>
      <p:pic>
        <p:nvPicPr>
          <p:cNvPr id="5" name="Image 0" descr="/mnt/data/b29ff2df-b592-4ddc-8548-319c43bbb616.png"/>
          <p:cNvPicPr>
            <a:picLocks noChangeAspect="1"/>
          </p:cNvPicPr>
          <p:nvPr/>
        </p:nvPicPr>
        <p:blipFill>
          <a:blip r:embed="rId3"/>
          <a:stretch>
            <a:fillRect/>
          </a:stretch>
        </p:blipFill>
        <p:spPr>
          <a:xfrm>
            <a:off x="1205703" y="1417320"/>
            <a:ext cx="4172274" cy="2606040"/>
          </a:xfrm>
          <a:prstGeom prst="rect">
            <a:avLst/>
          </a:prstGeom>
        </p:spPr>
      </p:pic>
      <p:sp>
        <p:nvSpPr>
          <p:cNvPr id="6" name="Text 3"/>
          <p:cNvSpPr/>
          <p:nvPr/>
        </p:nvSpPr>
        <p:spPr>
          <a:xfrm>
            <a:off x="685800" y="4096512"/>
            <a:ext cx="52120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About Us</a:t>
            </a:r>
            <a:endParaRPr lang="en-US" sz="950" dirty="0"/>
          </a:p>
        </p:txBody>
      </p:sp>
      <p:pic>
        <p:nvPicPr>
          <p:cNvPr id="7" name="Image 1" descr="/mnt/data/64183c33-ccc3-4774-bd15-e1e42e90b9dd.png"/>
          <p:cNvPicPr>
            <a:picLocks noChangeAspect="1"/>
          </p:cNvPicPr>
          <p:nvPr/>
        </p:nvPicPr>
        <p:blipFill>
          <a:blip r:embed="rId4"/>
          <a:stretch>
            <a:fillRect/>
          </a:stretch>
        </p:blipFill>
        <p:spPr>
          <a:xfrm>
            <a:off x="6829263" y="1417320"/>
            <a:ext cx="4172274" cy="2606040"/>
          </a:xfrm>
          <a:prstGeom prst="rect">
            <a:avLst/>
          </a:prstGeom>
        </p:spPr>
      </p:pic>
      <p:sp>
        <p:nvSpPr>
          <p:cNvPr id="8" name="Text 4"/>
          <p:cNvSpPr/>
          <p:nvPr/>
        </p:nvSpPr>
        <p:spPr>
          <a:xfrm>
            <a:off x="6309360" y="4096512"/>
            <a:ext cx="52120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Contact Us</a:t>
            </a:r>
            <a:endParaRPr lang="en-US" sz="950" dirty="0"/>
          </a:p>
        </p:txBody>
      </p:sp>
      <p:sp>
        <p:nvSpPr>
          <p:cNvPr id="9" name="Shape 5"/>
          <p:cNvSpPr/>
          <p:nvPr/>
        </p:nvSpPr>
        <p:spPr>
          <a:xfrm>
            <a:off x="685800" y="4617720"/>
            <a:ext cx="10835640" cy="777240"/>
          </a:xfrm>
          <a:prstGeom prst="rect">
            <a:avLst/>
          </a:prstGeom>
          <a:solidFill>
            <a:srgbClr val="F4F7FB"/>
          </a:solidFill>
          <a:ln w="12700">
            <a:solidFill>
              <a:srgbClr val="DDE5F0"/>
            </a:solidFill>
            <a:prstDash val="solid"/>
          </a:ln>
        </p:spPr>
        <p:txBody>
          <a:bodyPr/>
          <a:lstStyle/>
          <a:p>
            <a:endParaRPr lang="en-US"/>
          </a:p>
        </p:txBody>
      </p:sp>
      <p:sp>
        <p:nvSpPr>
          <p:cNvPr id="10" name="Text 6"/>
          <p:cNvSpPr/>
          <p:nvPr/>
        </p:nvSpPr>
        <p:spPr>
          <a:xfrm>
            <a:off x="850392" y="4745736"/>
            <a:ext cx="10506456" cy="521208"/>
          </a:xfrm>
          <a:prstGeom prst="rect">
            <a:avLst/>
          </a:prstGeom>
          <a:noFill/>
          <a:ln/>
        </p:spPr>
        <p:txBody>
          <a:bodyPr wrap="square" lIns="254" tIns="254" rIns="254" bIns="254" rtlCol="0" anchor="ctr">
            <a:normAutofit/>
          </a:bodyPr>
          <a:lstStyle/>
          <a:p>
            <a:pPr marL="0" indent="0">
              <a:buNone/>
            </a:pPr>
            <a:r>
              <a:rPr lang="en-US" sz="1250" dirty="0">
                <a:solidFill>
                  <a:srgbClr val="0B2341"/>
                </a:solidFill>
              </a:rPr>
              <a:t>Public pages are intended to be viewable before login so visitors can understand the marina, contact options, and available services.</a:t>
            </a:r>
            <a:endParaRPr lang="en-US" sz="1250" dirty="0"/>
          </a:p>
        </p:txBody>
      </p:sp>
      <p:sp>
        <p:nvSpPr>
          <p:cNvPr id="11" name="Text 7"/>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Sample Prototypes: Customer Account Flow</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Login and authenticated account dashboard.</a:t>
            </a:r>
            <a:endParaRPr lang="en-US" sz="1200" dirty="0"/>
          </a:p>
        </p:txBody>
      </p:sp>
      <p:pic>
        <p:nvPicPr>
          <p:cNvPr id="5" name="Image 0" descr="/mnt/data/be335d57-7bc2-485a-8ddb-c8cc22e8f7f1.png"/>
          <p:cNvPicPr>
            <a:picLocks noChangeAspect="1"/>
          </p:cNvPicPr>
          <p:nvPr/>
        </p:nvPicPr>
        <p:blipFill>
          <a:blip r:embed="rId3"/>
          <a:stretch>
            <a:fillRect/>
          </a:stretch>
        </p:blipFill>
        <p:spPr>
          <a:xfrm>
            <a:off x="1169104" y="1417320"/>
            <a:ext cx="4245472" cy="2651760"/>
          </a:xfrm>
          <a:prstGeom prst="rect">
            <a:avLst/>
          </a:prstGeom>
        </p:spPr>
      </p:pic>
      <p:sp>
        <p:nvSpPr>
          <p:cNvPr id="6" name="Text 3"/>
          <p:cNvSpPr/>
          <p:nvPr/>
        </p:nvSpPr>
        <p:spPr>
          <a:xfrm>
            <a:off x="685800" y="4142232"/>
            <a:ext cx="52120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Login page</a:t>
            </a:r>
            <a:endParaRPr lang="en-US" sz="950" dirty="0"/>
          </a:p>
        </p:txBody>
      </p:sp>
      <p:pic>
        <p:nvPicPr>
          <p:cNvPr id="7" name="Image 1" descr="/mnt/data/c03180cc-e98a-47ca-8c05-d9dcd73acecf.png"/>
          <p:cNvPicPr>
            <a:picLocks noChangeAspect="1"/>
          </p:cNvPicPr>
          <p:nvPr/>
        </p:nvPicPr>
        <p:blipFill>
          <a:blip r:embed="rId4"/>
          <a:stretch>
            <a:fillRect/>
          </a:stretch>
        </p:blipFill>
        <p:spPr>
          <a:xfrm>
            <a:off x="6792664" y="1417320"/>
            <a:ext cx="4245472" cy="2651760"/>
          </a:xfrm>
          <a:prstGeom prst="rect">
            <a:avLst/>
          </a:prstGeom>
        </p:spPr>
      </p:pic>
      <p:sp>
        <p:nvSpPr>
          <p:cNvPr id="8" name="Text 4"/>
          <p:cNvSpPr/>
          <p:nvPr/>
        </p:nvSpPr>
        <p:spPr>
          <a:xfrm>
            <a:off x="6309360" y="4142232"/>
            <a:ext cx="52120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Post-login account view</a:t>
            </a:r>
            <a:endParaRPr lang="en-US" sz="950" dirty="0"/>
          </a:p>
        </p:txBody>
      </p:sp>
      <p:sp>
        <p:nvSpPr>
          <p:cNvPr id="9" name="Text 5"/>
          <p:cNvSpPr/>
          <p:nvPr/>
        </p:nvSpPr>
        <p:spPr>
          <a:xfrm>
            <a:off x="822960" y="4590288"/>
            <a:ext cx="10332720" cy="914400"/>
          </a:xfrm>
          <a:prstGeom prst="rect">
            <a:avLst/>
          </a:prstGeom>
          <a:noFill/>
          <a:ln/>
        </p:spPr>
        <p:txBody>
          <a:bodyPr wrap="square" lIns="508" tIns="508" rIns="508" bIns="508" rtlCol="0" anchor="ctr">
            <a:normAutofit/>
          </a:bodyPr>
          <a:lstStyle/>
          <a:p>
            <a:r>
              <a:rPr lang="en-US" sz="1250" dirty="0">
                <a:solidFill>
                  <a:srgbClr val="05182F"/>
                </a:solidFill>
                <a:latin typeface="Arial" pitchFamily="34" charset="0"/>
                <a:ea typeface="Arial" pitchFamily="34" charset="-122"/>
                <a:cs typeface="Arial" pitchFamily="34" charset="-120"/>
              </a:rPr>
              <a:t>Credentials are validated before opening authenticated features.</a:t>
            </a:r>
            <a:endParaRPr lang="en-US" sz="1250" dirty="0"/>
          </a:p>
          <a:p>
            <a:r>
              <a:rPr lang="en-US" sz="1250" dirty="0">
                <a:solidFill>
                  <a:srgbClr val="05182F"/>
                </a:solidFill>
                <a:latin typeface="Arial" pitchFamily="34" charset="0"/>
                <a:ea typeface="Arial" pitchFamily="34" charset="-122"/>
                <a:cs typeface="Arial" pitchFamily="34" charset="-120"/>
              </a:rPr>
              <a:t>Authenticated customers can reach pricing, reservation, and wait list workflows.</a:t>
            </a:r>
            <a:endParaRPr lang="en-US" sz="1250" dirty="0"/>
          </a:p>
          <a:p>
            <a:r>
              <a:rPr lang="en-US" sz="1250" dirty="0">
                <a:solidFill>
                  <a:srgbClr val="05182F"/>
                </a:solidFill>
                <a:latin typeface="Arial" pitchFamily="34" charset="0"/>
                <a:ea typeface="Arial" pitchFamily="34" charset="-122"/>
                <a:cs typeface="Arial" pitchFamily="34" charset="-120"/>
              </a:rPr>
              <a:t>Registration and login should be included in the final screen-capture walkthrough.</a:t>
            </a:r>
            <a:endParaRPr lang="en-US" sz="1250" dirty="0"/>
          </a:p>
        </p:txBody>
      </p:sp>
      <p:sp>
        <p:nvSpPr>
          <p:cNvPr id="10" name="Text 6"/>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Sample Prototypes: Reservation Flow</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Slip reservation, summary, and reservation lookup pages.</a:t>
            </a:r>
            <a:endParaRPr lang="en-US" sz="1200" dirty="0"/>
          </a:p>
        </p:txBody>
      </p:sp>
      <p:pic>
        <p:nvPicPr>
          <p:cNvPr id="5" name="Image 0" descr="/mnt/data/485835f2-d24d-41e4-aa18-7c6baca5b871.png"/>
          <p:cNvPicPr>
            <a:picLocks noChangeAspect="1"/>
          </p:cNvPicPr>
          <p:nvPr/>
        </p:nvPicPr>
        <p:blipFill>
          <a:blip r:embed="rId3"/>
          <a:stretch>
            <a:fillRect/>
          </a:stretch>
        </p:blipFill>
        <p:spPr>
          <a:xfrm>
            <a:off x="548640" y="1569474"/>
            <a:ext cx="3611880" cy="2256013"/>
          </a:xfrm>
          <a:prstGeom prst="rect">
            <a:avLst/>
          </a:prstGeom>
        </p:spPr>
      </p:pic>
      <p:sp>
        <p:nvSpPr>
          <p:cNvPr id="6" name="Text 3"/>
          <p:cNvSpPr/>
          <p:nvPr/>
        </p:nvSpPr>
        <p:spPr>
          <a:xfrm>
            <a:off x="548640" y="4050792"/>
            <a:ext cx="36118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Slip reservation</a:t>
            </a:r>
            <a:endParaRPr lang="en-US" sz="950" dirty="0"/>
          </a:p>
        </p:txBody>
      </p:sp>
      <p:pic>
        <p:nvPicPr>
          <p:cNvPr id="7" name="Image 1" descr="/mnt/data/0b97b295-de8d-4683-8d02-e800b60ec595.png"/>
          <p:cNvPicPr>
            <a:picLocks noChangeAspect="1"/>
          </p:cNvPicPr>
          <p:nvPr/>
        </p:nvPicPr>
        <p:blipFill>
          <a:blip r:embed="rId4"/>
          <a:stretch>
            <a:fillRect/>
          </a:stretch>
        </p:blipFill>
        <p:spPr>
          <a:xfrm>
            <a:off x="4315968" y="1569474"/>
            <a:ext cx="3611880" cy="2256013"/>
          </a:xfrm>
          <a:prstGeom prst="rect">
            <a:avLst/>
          </a:prstGeom>
        </p:spPr>
      </p:pic>
      <p:sp>
        <p:nvSpPr>
          <p:cNvPr id="8" name="Text 4"/>
          <p:cNvSpPr/>
          <p:nvPr/>
        </p:nvSpPr>
        <p:spPr>
          <a:xfrm>
            <a:off x="4315968" y="4050792"/>
            <a:ext cx="36118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Reservation summary</a:t>
            </a:r>
            <a:endParaRPr lang="en-US" sz="950" dirty="0"/>
          </a:p>
        </p:txBody>
      </p:sp>
      <p:pic>
        <p:nvPicPr>
          <p:cNvPr id="9" name="Image 2" descr="/mnt/data/8c20478c-4f82-415f-85a7-5f9c55a94146.png"/>
          <p:cNvPicPr>
            <a:picLocks noChangeAspect="1"/>
          </p:cNvPicPr>
          <p:nvPr/>
        </p:nvPicPr>
        <p:blipFill>
          <a:blip r:embed="rId5"/>
          <a:stretch>
            <a:fillRect/>
          </a:stretch>
        </p:blipFill>
        <p:spPr>
          <a:xfrm>
            <a:off x="8092440" y="1569474"/>
            <a:ext cx="3611880" cy="2256013"/>
          </a:xfrm>
          <a:prstGeom prst="rect">
            <a:avLst/>
          </a:prstGeom>
        </p:spPr>
      </p:pic>
      <p:sp>
        <p:nvSpPr>
          <p:cNvPr id="10" name="Text 5"/>
          <p:cNvSpPr/>
          <p:nvPr/>
        </p:nvSpPr>
        <p:spPr>
          <a:xfrm>
            <a:off x="8092440" y="4050792"/>
            <a:ext cx="36118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Reservation lookup</a:t>
            </a:r>
            <a:endParaRPr lang="en-US" sz="950" dirty="0"/>
          </a:p>
        </p:txBody>
      </p:sp>
      <p:sp>
        <p:nvSpPr>
          <p:cNvPr id="11" name="Shape 6"/>
          <p:cNvSpPr/>
          <p:nvPr/>
        </p:nvSpPr>
        <p:spPr>
          <a:xfrm>
            <a:off x="685800" y="4572000"/>
            <a:ext cx="10835640" cy="804672"/>
          </a:xfrm>
          <a:prstGeom prst="rect">
            <a:avLst/>
          </a:prstGeom>
          <a:solidFill>
            <a:srgbClr val="F4F7FB"/>
          </a:solidFill>
          <a:ln w="12700">
            <a:solidFill>
              <a:srgbClr val="DDE5F0"/>
            </a:solidFill>
            <a:prstDash val="solid"/>
          </a:ln>
        </p:spPr>
        <p:txBody>
          <a:bodyPr/>
          <a:lstStyle/>
          <a:p>
            <a:endParaRPr lang="en-US"/>
          </a:p>
        </p:txBody>
      </p:sp>
      <p:sp>
        <p:nvSpPr>
          <p:cNvPr id="12" name="Text 7"/>
          <p:cNvSpPr/>
          <p:nvPr/>
        </p:nvSpPr>
        <p:spPr>
          <a:xfrm>
            <a:off x="850392" y="4700016"/>
            <a:ext cx="10506456" cy="548640"/>
          </a:xfrm>
          <a:prstGeom prst="rect">
            <a:avLst/>
          </a:prstGeom>
          <a:noFill/>
          <a:ln/>
        </p:spPr>
        <p:txBody>
          <a:bodyPr wrap="square" lIns="254" tIns="254" rIns="254" bIns="254" rtlCol="0" anchor="ctr">
            <a:normAutofit/>
          </a:bodyPr>
          <a:lstStyle/>
          <a:p>
            <a:pPr marL="0" indent="0">
              <a:buNone/>
            </a:pPr>
            <a:r>
              <a:rPr lang="en-US" sz="1250" dirty="0">
                <a:solidFill>
                  <a:srgbClr val="0B2341"/>
                </a:solidFill>
              </a:rPr>
              <a:t>The flow supports entering boat/reservation information, reviewing reservation details, and retrieving the reservation later by ID and email.</a:t>
            </a:r>
            <a:endParaRPr lang="en-US" sz="1250" dirty="0"/>
          </a:p>
        </p:txBody>
      </p:sp>
      <p:sp>
        <p:nvSpPr>
          <p:cNvPr id="13" name="Text 8"/>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Module 9 Focus: Wait List Lookup</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Waiting on final test screenshots and SQL results from the Module 9 owner.</a:t>
            </a:r>
            <a:endParaRPr lang="en-US" sz="1200" dirty="0"/>
          </a:p>
        </p:txBody>
      </p:sp>
      <p:pic>
        <p:nvPicPr>
          <p:cNvPr id="5" name="Image 0" descr="/mnt/data/a7cb518a-072c-4d8e-a0af-044cc92349b6.png"/>
          <p:cNvPicPr>
            <a:picLocks noChangeAspect="1"/>
          </p:cNvPicPr>
          <p:nvPr/>
        </p:nvPicPr>
        <p:blipFill>
          <a:blip r:embed="rId3"/>
          <a:stretch>
            <a:fillRect/>
          </a:stretch>
        </p:blipFill>
        <p:spPr>
          <a:xfrm>
            <a:off x="1132505" y="1417320"/>
            <a:ext cx="4318670" cy="2697480"/>
          </a:xfrm>
          <a:prstGeom prst="rect">
            <a:avLst/>
          </a:prstGeom>
        </p:spPr>
      </p:pic>
      <p:sp>
        <p:nvSpPr>
          <p:cNvPr id="6" name="Text 3"/>
          <p:cNvSpPr/>
          <p:nvPr/>
        </p:nvSpPr>
        <p:spPr>
          <a:xfrm>
            <a:off x="685800" y="4187952"/>
            <a:ext cx="521208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Pricing / availability-related prototype</a:t>
            </a:r>
            <a:endParaRPr lang="en-US" sz="950" dirty="0"/>
          </a:p>
        </p:txBody>
      </p:sp>
      <p:sp>
        <p:nvSpPr>
          <p:cNvPr id="7" name="Text 4"/>
          <p:cNvSpPr/>
          <p:nvPr/>
        </p:nvSpPr>
        <p:spPr>
          <a:xfrm>
            <a:off x="6400800" y="1417320"/>
            <a:ext cx="4846320" cy="2468880"/>
          </a:xfrm>
          <a:prstGeom prst="rect">
            <a:avLst/>
          </a:prstGeom>
          <a:noFill/>
          <a:ln/>
        </p:spPr>
        <p:txBody>
          <a:bodyPr wrap="square" lIns="508" tIns="508" rIns="508" bIns="508" rtlCol="0" anchor="ctr">
            <a:normAutofit/>
          </a:bodyPr>
          <a:lstStyle/>
          <a:p>
            <a:r>
              <a:rPr lang="en-US" sz="1420" dirty="0">
                <a:solidFill>
                  <a:srgbClr val="05182F"/>
                </a:solidFill>
                <a:latin typeface="Arial" pitchFamily="34" charset="0"/>
                <a:ea typeface="Arial" pitchFamily="34" charset="-122"/>
                <a:cs typeface="Arial" pitchFamily="34" charset="-120"/>
              </a:rPr>
              <a:t>Module 9 assignment: Wait List Lookup page and backend code.</a:t>
            </a:r>
            <a:endParaRPr lang="en-US" sz="1420" dirty="0"/>
          </a:p>
          <a:p>
            <a:r>
              <a:rPr lang="en-US" sz="1420" dirty="0">
                <a:solidFill>
                  <a:srgbClr val="05182F"/>
                </a:solidFill>
                <a:latin typeface="Arial" pitchFamily="34" charset="0"/>
                <a:ea typeface="Arial" pitchFamily="34" charset="-122"/>
                <a:cs typeface="Arial" pitchFamily="34" charset="-120"/>
              </a:rPr>
              <a:t>Functional tests should verify database-backed availability and wait list counts.</a:t>
            </a:r>
            <a:endParaRPr lang="en-US" sz="1420" dirty="0"/>
          </a:p>
          <a:p>
            <a:r>
              <a:rPr lang="en-US" sz="1420" dirty="0">
                <a:solidFill>
                  <a:srgbClr val="05182F"/>
                </a:solidFill>
                <a:latin typeface="Arial" pitchFamily="34" charset="0"/>
                <a:ea typeface="Arial" pitchFamily="34" charset="-122"/>
                <a:cs typeface="Arial" pitchFamily="34" charset="-120"/>
              </a:rPr>
              <a:t>Max is preparing SQL scripts for the peer reviewer.</a:t>
            </a:r>
            <a:endParaRPr lang="en-US" sz="1420" dirty="0"/>
          </a:p>
          <a:p>
            <a:r>
              <a:rPr lang="en-US" sz="1420" dirty="0">
                <a:solidFill>
                  <a:srgbClr val="05182F"/>
                </a:solidFill>
                <a:latin typeface="Arial" pitchFamily="34" charset="0"/>
                <a:ea typeface="Arial" pitchFamily="34" charset="-122"/>
                <a:cs typeface="Arial" pitchFamily="34" charset="-120"/>
              </a:rPr>
              <a:t>Final deck update: add screenshots from the completed wait list tests once the team posts them.</a:t>
            </a:r>
            <a:endParaRPr lang="en-US" sz="1420" dirty="0"/>
          </a:p>
        </p:txBody>
      </p:sp>
      <p:sp>
        <p:nvSpPr>
          <p:cNvPr id="8" name="Shape 5"/>
          <p:cNvSpPr/>
          <p:nvPr/>
        </p:nvSpPr>
        <p:spPr>
          <a:xfrm>
            <a:off x="6400800" y="4251960"/>
            <a:ext cx="4846320" cy="685800"/>
          </a:xfrm>
          <a:prstGeom prst="rect">
            <a:avLst/>
          </a:prstGeom>
          <a:solidFill>
            <a:srgbClr val="F4F7FB"/>
          </a:solidFill>
          <a:ln w="12700">
            <a:solidFill>
              <a:srgbClr val="DDE5F0"/>
            </a:solidFill>
            <a:prstDash val="solid"/>
          </a:ln>
        </p:spPr>
        <p:txBody>
          <a:bodyPr/>
          <a:lstStyle/>
          <a:p>
            <a:endParaRPr lang="en-US"/>
          </a:p>
        </p:txBody>
      </p:sp>
      <p:sp>
        <p:nvSpPr>
          <p:cNvPr id="9" name="Text 6"/>
          <p:cNvSpPr/>
          <p:nvPr/>
        </p:nvSpPr>
        <p:spPr>
          <a:xfrm>
            <a:off x="6565392" y="4379976"/>
            <a:ext cx="4517136" cy="429768"/>
          </a:xfrm>
          <a:prstGeom prst="rect">
            <a:avLst/>
          </a:prstGeom>
          <a:noFill/>
          <a:ln/>
        </p:spPr>
        <p:txBody>
          <a:bodyPr wrap="square" lIns="254" tIns="254" rIns="254" bIns="254" rtlCol="0" anchor="ctr">
            <a:normAutofit/>
          </a:bodyPr>
          <a:lstStyle/>
          <a:p>
            <a:pPr marL="0" indent="0">
              <a:buNone/>
            </a:pPr>
            <a:r>
              <a:rPr lang="en-US" sz="1250" dirty="0">
                <a:solidFill>
                  <a:srgbClr val="0B2341"/>
                </a:solidFill>
              </a:rPr>
              <a:t>Do not lock this slide until electric opt-in and departure date updates are finished.</a:t>
            </a:r>
            <a:endParaRPr lang="en-US" sz="1250" dirty="0"/>
          </a:p>
        </p:txBody>
      </p:sp>
      <p:sp>
        <p:nvSpPr>
          <p:cNvPr id="10" name="Text 7"/>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ERD and Database Scope</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Editable placeholder until the final ERD is posted.</a:t>
            </a:r>
            <a:endParaRPr lang="en-US" sz="1200" dirty="0"/>
          </a:p>
        </p:txBody>
      </p:sp>
      <p:sp>
        <p:nvSpPr>
          <p:cNvPr id="5" name="Text 3"/>
          <p:cNvSpPr/>
          <p:nvPr/>
        </p:nvSpPr>
        <p:spPr>
          <a:xfrm>
            <a:off x="822960" y="1325880"/>
            <a:ext cx="5394960" cy="2926080"/>
          </a:xfrm>
          <a:prstGeom prst="rect">
            <a:avLst/>
          </a:prstGeom>
          <a:noFill/>
          <a:ln/>
        </p:spPr>
        <p:txBody>
          <a:bodyPr wrap="square" lIns="508" tIns="508" rIns="508" bIns="508" rtlCol="0" anchor="ctr">
            <a:normAutofit/>
          </a:bodyPr>
          <a:lstStyle/>
          <a:p>
            <a:r>
              <a:rPr lang="en-US" sz="1400" dirty="0">
                <a:solidFill>
                  <a:srgbClr val="05182F"/>
                </a:solidFill>
                <a:latin typeface="Arial" pitchFamily="34" charset="0"/>
                <a:ea typeface="Arial" pitchFamily="34" charset="-122"/>
                <a:cs typeface="Arial" pitchFamily="34" charset="-120"/>
              </a:rPr>
              <a:t>Core customer data: account identity, login credentials, and contact information.</a:t>
            </a:r>
            <a:endParaRPr lang="en-US" sz="1400" dirty="0"/>
          </a:p>
          <a:p>
            <a:r>
              <a:rPr lang="en-US" sz="1400" dirty="0">
                <a:solidFill>
                  <a:srgbClr val="05182F"/>
                </a:solidFill>
                <a:latin typeface="Arial" pitchFamily="34" charset="0"/>
                <a:ea typeface="Arial" pitchFamily="34" charset="-122"/>
                <a:cs typeface="Arial" pitchFamily="34" charset="-120"/>
              </a:rPr>
              <a:t>Reservation data: reservation ID, customer, boat name, length, check-in date, slip size/number, status, and monthly cost.</a:t>
            </a:r>
            <a:endParaRPr lang="en-US" sz="1400" dirty="0"/>
          </a:p>
          <a:p>
            <a:r>
              <a:rPr lang="en-US" sz="1400" dirty="0">
                <a:solidFill>
                  <a:srgbClr val="05182F"/>
                </a:solidFill>
                <a:latin typeface="Arial" pitchFamily="34" charset="0"/>
                <a:ea typeface="Arial" pitchFamily="34" charset="-122"/>
                <a:cs typeface="Arial" pitchFamily="34" charset="-120"/>
              </a:rPr>
              <a:t>Slip capacity data: slip type, size, availability, and wait list counts.</a:t>
            </a:r>
            <a:endParaRPr lang="en-US" sz="1400" dirty="0"/>
          </a:p>
          <a:p>
            <a:r>
              <a:rPr lang="en-US" sz="1400" dirty="0">
                <a:solidFill>
                  <a:srgbClr val="05182F"/>
                </a:solidFill>
                <a:latin typeface="Arial" pitchFamily="34" charset="0"/>
                <a:ea typeface="Arial" pitchFamily="34" charset="-122"/>
                <a:cs typeface="Arial" pitchFamily="34" charset="-120"/>
              </a:rPr>
              <a:t>Module 9 changes still needed: electric opt-in and departure date.</a:t>
            </a:r>
            <a:endParaRPr lang="en-US" sz="1400" dirty="0"/>
          </a:p>
        </p:txBody>
      </p:sp>
      <p:sp>
        <p:nvSpPr>
          <p:cNvPr id="6" name="Shape 4"/>
          <p:cNvSpPr/>
          <p:nvPr/>
        </p:nvSpPr>
        <p:spPr>
          <a:xfrm>
            <a:off x="6537960" y="1417320"/>
            <a:ext cx="4846320" cy="3474720"/>
          </a:xfrm>
          <a:prstGeom prst="roundRect">
            <a:avLst>
              <a:gd name="adj" fmla="val 2105"/>
            </a:avLst>
          </a:prstGeom>
          <a:solidFill>
            <a:srgbClr val="F4F7FB"/>
          </a:solidFill>
          <a:ln w="12700">
            <a:solidFill>
              <a:srgbClr val="D9E1EC"/>
            </a:solidFill>
            <a:prstDash val="solid"/>
          </a:ln>
        </p:spPr>
        <p:txBody>
          <a:bodyPr/>
          <a:lstStyle/>
          <a:p>
            <a:endParaRPr lang="en-US"/>
          </a:p>
        </p:txBody>
      </p:sp>
      <p:sp>
        <p:nvSpPr>
          <p:cNvPr id="7" name="Text 5"/>
          <p:cNvSpPr/>
          <p:nvPr/>
        </p:nvSpPr>
        <p:spPr>
          <a:xfrm>
            <a:off x="6766560" y="1618488"/>
            <a:ext cx="4389120" cy="274320"/>
          </a:xfrm>
          <a:prstGeom prst="rect">
            <a:avLst/>
          </a:prstGeom>
          <a:noFill/>
          <a:ln/>
        </p:spPr>
        <p:txBody>
          <a:bodyPr wrap="square" lIns="0" tIns="0" rIns="0" bIns="0" rtlCol="0" anchor="ctr"/>
          <a:lstStyle/>
          <a:p>
            <a:pPr marL="0" indent="0">
              <a:buNone/>
            </a:pPr>
            <a:r>
              <a:rPr lang="en-US" sz="1350" b="1" dirty="0">
                <a:solidFill>
                  <a:srgbClr val="0B2341"/>
                </a:solidFill>
              </a:rPr>
              <a:t>ERD PLACEHOLDER</a:t>
            </a:r>
            <a:endParaRPr lang="en-US" sz="1350" dirty="0"/>
          </a:p>
        </p:txBody>
      </p:sp>
      <p:sp>
        <p:nvSpPr>
          <p:cNvPr id="8" name="Text 6"/>
          <p:cNvSpPr/>
          <p:nvPr/>
        </p:nvSpPr>
        <p:spPr>
          <a:xfrm>
            <a:off x="6766560" y="2103120"/>
            <a:ext cx="4389120" cy="1051560"/>
          </a:xfrm>
          <a:prstGeom prst="rect">
            <a:avLst/>
          </a:prstGeom>
          <a:noFill/>
          <a:ln/>
        </p:spPr>
        <p:txBody>
          <a:bodyPr wrap="square" lIns="254" tIns="254" rIns="254" bIns="254" rtlCol="0" anchor="ctr">
            <a:normAutofit/>
          </a:bodyPr>
          <a:lstStyle/>
          <a:p>
            <a:pPr marL="0" indent="0">
              <a:buNone/>
            </a:pPr>
            <a:r>
              <a:rPr lang="en-US" sz="1300" dirty="0">
                <a:solidFill>
                  <a:srgbClr val="586073"/>
                </a:solidFill>
              </a:rPr>
              <a:t>Replace this box with the final ERD screenshot once Max/Alex finish the electric opt-in and departure date updates.</a:t>
            </a:r>
            <a:endParaRPr lang="en-US" sz="1300" dirty="0"/>
          </a:p>
        </p:txBody>
      </p:sp>
      <p:sp>
        <p:nvSpPr>
          <p:cNvPr id="9" name="Text 7"/>
          <p:cNvSpPr/>
          <p:nvPr/>
        </p:nvSpPr>
        <p:spPr>
          <a:xfrm>
            <a:off x="6766560" y="3474720"/>
            <a:ext cx="4389120" cy="822960"/>
          </a:xfrm>
          <a:prstGeom prst="rect">
            <a:avLst/>
          </a:prstGeom>
          <a:noFill/>
          <a:ln/>
        </p:spPr>
        <p:txBody>
          <a:bodyPr wrap="square" lIns="254" tIns="254" rIns="254" bIns="254" rtlCol="0" anchor="ctr">
            <a:normAutofit/>
          </a:bodyPr>
          <a:lstStyle/>
          <a:p>
            <a:pPr marL="0" indent="0">
              <a:buNone/>
            </a:pPr>
            <a:r>
              <a:rPr lang="en-US" sz="1200" dirty="0">
                <a:solidFill>
                  <a:srgbClr val="0B2341"/>
                </a:solidFill>
              </a:rPr>
              <a:t>Tables likely represented:</a:t>
            </a:r>
            <a:endParaRPr lang="en-US" sz="1200" dirty="0"/>
          </a:p>
          <a:p>
            <a:pPr marL="0" indent="0">
              <a:buNone/>
            </a:pPr>
            <a:r>
              <a:rPr lang="en-US" sz="1200" dirty="0">
                <a:solidFill>
                  <a:srgbClr val="0B2341"/>
                </a:solidFill>
              </a:rPr>
              <a:t>customers • reservations • slips • slip_types • waitlist_entries • contact_messages</a:t>
            </a:r>
            <a:endParaRPr lang="en-US" sz="1200" dirty="0"/>
          </a:p>
        </p:txBody>
      </p:sp>
      <p:sp>
        <p:nvSpPr>
          <p:cNvPr id="10" name="Text 8"/>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Tests Created and Results</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Use the final team results before submission.</a:t>
            </a:r>
            <a:endParaRPr lang="en-US" sz="1200" dirty="0"/>
          </a:p>
        </p:txBody>
      </p:sp>
      <p:sp>
        <p:nvSpPr>
          <p:cNvPr id="5" name="Shape 3"/>
          <p:cNvSpPr/>
          <p:nvPr/>
        </p:nvSpPr>
        <p:spPr>
          <a:xfrm>
            <a:off x="640080" y="1417320"/>
            <a:ext cx="10789920" cy="384048"/>
          </a:xfrm>
          <a:prstGeom prst="rect">
            <a:avLst/>
          </a:prstGeom>
          <a:solidFill>
            <a:srgbClr val="0B2341"/>
          </a:solidFill>
          <a:ln w="12700">
            <a:solidFill>
              <a:srgbClr val="0B2341"/>
            </a:solidFill>
            <a:prstDash val="solid"/>
          </a:ln>
        </p:spPr>
        <p:txBody>
          <a:bodyPr/>
          <a:lstStyle/>
          <a:p>
            <a:endParaRPr lang="en-US"/>
          </a:p>
        </p:txBody>
      </p:sp>
      <p:sp>
        <p:nvSpPr>
          <p:cNvPr id="6" name="Text 4"/>
          <p:cNvSpPr/>
          <p:nvPr/>
        </p:nvSpPr>
        <p:spPr>
          <a:xfrm>
            <a:off x="713232" y="1527048"/>
            <a:ext cx="2231136" cy="146304"/>
          </a:xfrm>
          <a:prstGeom prst="rect">
            <a:avLst/>
          </a:prstGeom>
          <a:noFill/>
          <a:ln/>
        </p:spPr>
        <p:txBody>
          <a:bodyPr wrap="square" lIns="0" tIns="0" rIns="0" bIns="0" rtlCol="0" anchor="ctr"/>
          <a:lstStyle/>
          <a:p>
            <a:pPr marL="0" indent="0">
              <a:buNone/>
            </a:pPr>
            <a:r>
              <a:rPr lang="en-US" sz="1050" b="1" dirty="0">
                <a:solidFill>
                  <a:srgbClr val="FFFFFF"/>
                </a:solidFill>
              </a:rPr>
              <a:t>Test</a:t>
            </a:r>
            <a:endParaRPr lang="en-US" sz="1050" dirty="0"/>
          </a:p>
        </p:txBody>
      </p:sp>
      <p:sp>
        <p:nvSpPr>
          <p:cNvPr id="7" name="Text 5"/>
          <p:cNvSpPr/>
          <p:nvPr/>
        </p:nvSpPr>
        <p:spPr>
          <a:xfrm>
            <a:off x="3090672" y="1527048"/>
            <a:ext cx="5705856" cy="146304"/>
          </a:xfrm>
          <a:prstGeom prst="rect">
            <a:avLst/>
          </a:prstGeom>
          <a:noFill/>
          <a:ln/>
        </p:spPr>
        <p:txBody>
          <a:bodyPr wrap="square" lIns="0" tIns="0" rIns="0" bIns="0" rtlCol="0" anchor="ctr"/>
          <a:lstStyle/>
          <a:p>
            <a:pPr marL="0" indent="0">
              <a:buNone/>
            </a:pPr>
            <a:r>
              <a:rPr lang="en-US" sz="1050" b="1" dirty="0">
                <a:solidFill>
                  <a:srgbClr val="FFFFFF"/>
                </a:solidFill>
              </a:rPr>
              <a:t>Purpose</a:t>
            </a:r>
            <a:endParaRPr lang="en-US" sz="1050" dirty="0"/>
          </a:p>
        </p:txBody>
      </p:sp>
      <p:sp>
        <p:nvSpPr>
          <p:cNvPr id="8" name="Text 6"/>
          <p:cNvSpPr/>
          <p:nvPr/>
        </p:nvSpPr>
        <p:spPr>
          <a:xfrm>
            <a:off x="8942832" y="1527048"/>
            <a:ext cx="2414016" cy="146304"/>
          </a:xfrm>
          <a:prstGeom prst="rect">
            <a:avLst/>
          </a:prstGeom>
          <a:noFill/>
          <a:ln/>
        </p:spPr>
        <p:txBody>
          <a:bodyPr wrap="square" lIns="0" tIns="0" rIns="0" bIns="0" rtlCol="0" anchor="ctr"/>
          <a:lstStyle/>
          <a:p>
            <a:pPr marL="0" indent="0">
              <a:buNone/>
            </a:pPr>
            <a:r>
              <a:rPr lang="en-US" sz="1050" b="1" dirty="0">
                <a:solidFill>
                  <a:srgbClr val="FFFFFF"/>
                </a:solidFill>
              </a:rPr>
              <a:t>Result</a:t>
            </a:r>
            <a:endParaRPr lang="en-US" sz="1050" dirty="0"/>
          </a:p>
        </p:txBody>
      </p:sp>
      <p:sp>
        <p:nvSpPr>
          <p:cNvPr id="9" name="Shape 7"/>
          <p:cNvSpPr/>
          <p:nvPr/>
        </p:nvSpPr>
        <p:spPr>
          <a:xfrm>
            <a:off x="640080" y="1856232"/>
            <a:ext cx="10789920" cy="420624"/>
          </a:xfrm>
          <a:prstGeom prst="rect">
            <a:avLst/>
          </a:prstGeom>
          <a:solidFill>
            <a:srgbClr val="FFFFFF"/>
          </a:solidFill>
          <a:ln w="6350">
            <a:solidFill>
              <a:srgbClr val="D9E1EC"/>
            </a:solidFill>
            <a:prstDash val="solid"/>
          </a:ln>
        </p:spPr>
        <p:txBody>
          <a:bodyPr/>
          <a:lstStyle/>
          <a:p>
            <a:endParaRPr lang="en-US"/>
          </a:p>
        </p:txBody>
      </p:sp>
      <p:sp>
        <p:nvSpPr>
          <p:cNvPr id="10" name="Text 8"/>
          <p:cNvSpPr/>
          <p:nvPr/>
        </p:nvSpPr>
        <p:spPr>
          <a:xfrm>
            <a:off x="713232" y="1965960"/>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Landing page load</a:t>
            </a:r>
            <a:endParaRPr lang="en-US" sz="1020" dirty="0"/>
          </a:p>
        </p:txBody>
      </p:sp>
      <p:sp>
        <p:nvSpPr>
          <p:cNvPr id="11" name="Text 9"/>
          <p:cNvSpPr/>
          <p:nvPr/>
        </p:nvSpPr>
        <p:spPr>
          <a:xfrm>
            <a:off x="3090672" y="1965960"/>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Public landing page opens without login.</a:t>
            </a:r>
            <a:endParaRPr lang="en-US" sz="1020" dirty="0"/>
          </a:p>
        </p:txBody>
      </p:sp>
      <p:sp>
        <p:nvSpPr>
          <p:cNvPr id="12" name="Text 10"/>
          <p:cNvSpPr/>
          <p:nvPr/>
        </p:nvSpPr>
        <p:spPr>
          <a:xfrm>
            <a:off x="8942832" y="1965960"/>
            <a:ext cx="241401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PASS</a:t>
            </a:r>
            <a:endParaRPr lang="en-US" sz="1020" dirty="0"/>
          </a:p>
        </p:txBody>
      </p:sp>
      <p:sp>
        <p:nvSpPr>
          <p:cNvPr id="13" name="Shape 11"/>
          <p:cNvSpPr/>
          <p:nvPr/>
        </p:nvSpPr>
        <p:spPr>
          <a:xfrm>
            <a:off x="640080" y="2295144"/>
            <a:ext cx="10789920" cy="420624"/>
          </a:xfrm>
          <a:prstGeom prst="rect">
            <a:avLst/>
          </a:prstGeom>
          <a:solidFill>
            <a:srgbClr val="F6F8FB"/>
          </a:solidFill>
          <a:ln w="6350">
            <a:solidFill>
              <a:srgbClr val="D9E1EC"/>
            </a:solidFill>
            <a:prstDash val="solid"/>
          </a:ln>
        </p:spPr>
        <p:txBody>
          <a:bodyPr/>
          <a:lstStyle/>
          <a:p>
            <a:endParaRPr lang="en-US"/>
          </a:p>
        </p:txBody>
      </p:sp>
      <p:sp>
        <p:nvSpPr>
          <p:cNvPr id="14" name="Text 12"/>
          <p:cNvSpPr/>
          <p:nvPr/>
        </p:nvSpPr>
        <p:spPr>
          <a:xfrm>
            <a:off x="713232" y="2404872"/>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About/Contact access</a:t>
            </a:r>
            <a:endParaRPr lang="en-US" sz="1020" dirty="0"/>
          </a:p>
        </p:txBody>
      </p:sp>
      <p:sp>
        <p:nvSpPr>
          <p:cNvPr id="15" name="Text 13"/>
          <p:cNvSpPr/>
          <p:nvPr/>
        </p:nvSpPr>
        <p:spPr>
          <a:xfrm>
            <a:off x="3090672" y="2404872"/>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Public information and contact form are reachable.</a:t>
            </a:r>
            <a:endParaRPr lang="en-US" sz="1020" dirty="0"/>
          </a:p>
        </p:txBody>
      </p:sp>
      <p:sp>
        <p:nvSpPr>
          <p:cNvPr id="16" name="Text 14"/>
          <p:cNvSpPr/>
          <p:nvPr/>
        </p:nvSpPr>
        <p:spPr>
          <a:xfrm>
            <a:off x="8942832" y="2404872"/>
            <a:ext cx="241401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PASS</a:t>
            </a:r>
            <a:endParaRPr lang="en-US" sz="1020" dirty="0"/>
          </a:p>
        </p:txBody>
      </p:sp>
      <p:sp>
        <p:nvSpPr>
          <p:cNvPr id="17" name="Shape 15"/>
          <p:cNvSpPr/>
          <p:nvPr/>
        </p:nvSpPr>
        <p:spPr>
          <a:xfrm>
            <a:off x="640080" y="2734056"/>
            <a:ext cx="10789920" cy="420624"/>
          </a:xfrm>
          <a:prstGeom prst="rect">
            <a:avLst/>
          </a:prstGeom>
          <a:solidFill>
            <a:srgbClr val="FFFFFF"/>
          </a:solidFill>
          <a:ln w="6350">
            <a:solidFill>
              <a:srgbClr val="D9E1EC"/>
            </a:solidFill>
            <a:prstDash val="solid"/>
          </a:ln>
        </p:spPr>
        <p:txBody>
          <a:bodyPr/>
          <a:lstStyle/>
          <a:p>
            <a:endParaRPr lang="en-US"/>
          </a:p>
        </p:txBody>
      </p:sp>
      <p:sp>
        <p:nvSpPr>
          <p:cNvPr id="18" name="Text 16"/>
          <p:cNvSpPr/>
          <p:nvPr/>
        </p:nvSpPr>
        <p:spPr>
          <a:xfrm>
            <a:off x="713232" y="2843784"/>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Login / account access</a:t>
            </a:r>
            <a:endParaRPr lang="en-US" sz="1020" dirty="0"/>
          </a:p>
        </p:txBody>
      </p:sp>
      <p:sp>
        <p:nvSpPr>
          <p:cNvPr id="19" name="Text 17"/>
          <p:cNvSpPr/>
          <p:nvPr/>
        </p:nvSpPr>
        <p:spPr>
          <a:xfrm>
            <a:off x="3090672" y="2843784"/>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Customer can access authenticated flow.</a:t>
            </a:r>
            <a:endParaRPr lang="en-US" sz="1020" dirty="0"/>
          </a:p>
        </p:txBody>
      </p:sp>
      <p:sp>
        <p:nvSpPr>
          <p:cNvPr id="20" name="Text 18"/>
          <p:cNvSpPr/>
          <p:nvPr/>
        </p:nvSpPr>
        <p:spPr>
          <a:xfrm>
            <a:off x="8942832" y="2843784"/>
            <a:ext cx="241401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PASS / verify live</a:t>
            </a:r>
            <a:endParaRPr lang="en-US" sz="1020" dirty="0"/>
          </a:p>
        </p:txBody>
      </p:sp>
      <p:sp>
        <p:nvSpPr>
          <p:cNvPr id="21" name="Shape 19"/>
          <p:cNvSpPr/>
          <p:nvPr/>
        </p:nvSpPr>
        <p:spPr>
          <a:xfrm>
            <a:off x="640080" y="3172968"/>
            <a:ext cx="10789920" cy="420624"/>
          </a:xfrm>
          <a:prstGeom prst="rect">
            <a:avLst/>
          </a:prstGeom>
          <a:solidFill>
            <a:srgbClr val="F6F8FB"/>
          </a:solidFill>
          <a:ln w="6350">
            <a:solidFill>
              <a:srgbClr val="D9E1EC"/>
            </a:solidFill>
            <a:prstDash val="solid"/>
          </a:ln>
        </p:spPr>
        <p:txBody>
          <a:bodyPr/>
          <a:lstStyle/>
          <a:p>
            <a:endParaRPr lang="en-US"/>
          </a:p>
        </p:txBody>
      </p:sp>
      <p:sp>
        <p:nvSpPr>
          <p:cNvPr id="22" name="Text 20"/>
          <p:cNvSpPr/>
          <p:nvPr/>
        </p:nvSpPr>
        <p:spPr>
          <a:xfrm>
            <a:off x="713232" y="3282696"/>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Slip reservation flow</a:t>
            </a:r>
            <a:endParaRPr lang="en-US" sz="1020" dirty="0"/>
          </a:p>
        </p:txBody>
      </p:sp>
      <p:sp>
        <p:nvSpPr>
          <p:cNvPr id="23" name="Text 21"/>
          <p:cNvSpPr/>
          <p:nvPr/>
        </p:nvSpPr>
        <p:spPr>
          <a:xfrm>
            <a:off x="3090672" y="3282696"/>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Reservation form, cost, and summary details are shown.</a:t>
            </a:r>
            <a:endParaRPr lang="en-US" sz="1020" dirty="0"/>
          </a:p>
        </p:txBody>
      </p:sp>
      <p:sp>
        <p:nvSpPr>
          <p:cNvPr id="24" name="Text 22"/>
          <p:cNvSpPr/>
          <p:nvPr/>
        </p:nvSpPr>
        <p:spPr>
          <a:xfrm>
            <a:off x="8942832" y="3282696"/>
            <a:ext cx="241401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PASS</a:t>
            </a:r>
            <a:endParaRPr lang="en-US" sz="1020" dirty="0"/>
          </a:p>
        </p:txBody>
      </p:sp>
      <p:sp>
        <p:nvSpPr>
          <p:cNvPr id="25" name="Shape 23"/>
          <p:cNvSpPr/>
          <p:nvPr/>
        </p:nvSpPr>
        <p:spPr>
          <a:xfrm>
            <a:off x="640080" y="3611880"/>
            <a:ext cx="10789920" cy="420624"/>
          </a:xfrm>
          <a:prstGeom prst="rect">
            <a:avLst/>
          </a:prstGeom>
          <a:solidFill>
            <a:srgbClr val="FFFFFF"/>
          </a:solidFill>
          <a:ln w="6350">
            <a:solidFill>
              <a:srgbClr val="D9E1EC"/>
            </a:solidFill>
            <a:prstDash val="solid"/>
          </a:ln>
        </p:spPr>
        <p:txBody>
          <a:bodyPr/>
          <a:lstStyle/>
          <a:p>
            <a:endParaRPr lang="en-US"/>
          </a:p>
        </p:txBody>
      </p:sp>
      <p:sp>
        <p:nvSpPr>
          <p:cNvPr id="26" name="Text 24"/>
          <p:cNvSpPr/>
          <p:nvPr/>
        </p:nvSpPr>
        <p:spPr>
          <a:xfrm>
            <a:off x="713232" y="3721608"/>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Reservation lookup</a:t>
            </a:r>
            <a:endParaRPr lang="en-US" sz="1020" dirty="0"/>
          </a:p>
        </p:txBody>
      </p:sp>
      <p:sp>
        <p:nvSpPr>
          <p:cNvPr id="27" name="Text 25"/>
          <p:cNvSpPr/>
          <p:nvPr/>
        </p:nvSpPr>
        <p:spPr>
          <a:xfrm>
            <a:off x="3090672" y="3721608"/>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Valid/invalid lookup behavior and data display.</a:t>
            </a:r>
            <a:endParaRPr lang="en-US" sz="1020" dirty="0"/>
          </a:p>
        </p:txBody>
      </p:sp>
      <p:sp>
        <p:nvSpPr>
          <p:cNvPr id="28" name="Text 26"/>
          <p:cNvSpPr/>
          <p:nvPr/>
        </p:nvSpPr>
        <p:spPr>
          <a:xfrm>
            <a:off x="8942832" y="3721608"/>
            <a:ext cx="241401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PASS</a:t>
            </a:r>
            <a:endParaRPr lang="en-US" sz="1020" dirty="0"/>
          </a:p>
        </p:txBody>
      </p:sp>
      <p:sp>
        <p:nvSpPr>
          <p:cNvPr id="29" name="Shape 27"/>
          <p:cNvSpPr/>
          <p:nvPr/>
        </p:nvSpPr>
        <p:spPr>
          <a:xfrm>
            <a:off x="640080" y="4050792"/>
            <a:ext cx="10789920" cy="420624"/>
          </a:xfrm>
          <a:prstGeom prst="rect">
            <a:avLst/>
          </a:prstGeom>
          <a:solidFill>
            <a:srgbClr val="F6F8FB"/>
          </a:solidFill>
          <a:ln w="6350">
            <a:solidFill>
              <a:srgbClr val="D9E1EC"/>
            </a:solidFill>
            <a:prstDash val="solid"/>
          </a:ln>
        </p:spPr>
        <p:txBody>
          <a:bodyPr/>
          <a:lstStyle/>
          <a:p>
            <a:endParaRPr lang="en-US"/>
          </a:p>
        </p:txBody>
      </p:sp>
      <p:sp>
        <p:nvSpPr>
          <p:cNvPr id="30" name="Text 28"/>
          <p:cNvSpPr/>
          <p:nvPr/>
        </p:nvSpPr>
        <p:spPr>
          <a:xfrm>
            <a:off x="713232" y="4160520"/>
            <a:ext cx="2231136" cy="164592"/>
          </a:xfrm>
          <a:prstGeom prst="rect">
            <a:avLst/>
          </a:prstGeom>
          <a:noFill/>
          <a:ln/>
        </p:spPr>
        <p:txBody>
          <a:bodyPr wrap="square" lIns="0" tIns="0" rIns="0" bIns="0" rtlCol="0" anchor="ctr">
            <a:normAutofit/>
          </a:bodyPr>
          <a:lstStyle/>
          <a:p>
            <a:pPr marL="0" indent="0">
              <a:buNone/>
            </a:pPr>
            <a:r>
              <a:rPr lang="en-US" sz="1020" b="1" dirty="0">
                <a:solidFill>
                  <a:srgbClr val="0B2341"/>
                </a:solidFill>
              </a:rPr>
              <a:t>Wait list lookup</a:t>
            </a:r>
            <a:endParaRPr lang="en-US" sz="1020" dirty="0"/>
          </a:p>
        </p:txBody>
      </p:sp>
      <p:sp>
        <p:nvSpPr>
          <p:cNvPr id="31" name="Text 29"/>
          <p:cNvSpPr/>
          <p:nvPr/>
        </p:nvSpPr>
        <p:spPr>
          <a:xfrm>
            <a:off x="3090672" y="4160520"/>
            <a:ext cx="5705856" cy="164592"/>
          </a:xfrm>
          <a:prstGeom prst="rect">
            <a:avLst/>
          </a:prstGeom>
          <a:noFill/>
          <a:ln/>
        </p:spPr>
        <p:txBody>
          <a:bodyPr wrap="square" lIns="0" tIns="0" rIns="0" bIns="0" rtlCol="0" anchor="ctr">
            <a:normAutofit/>
          </a:bodyPr>
          <a:lstStyle/>
          <a:p>
            <a:pPr marL="0" indent="0">
              <a:buNone/>
            </a:pPr>
            <a:r>
              <a:rPr lang="en-US" sz="1020" dirty="0">
                <a:solidFill>
                  <a:srgbClr val="0B2341"/>
                </a:solidFill>
              </a:rPr>
              <a:t>Availability and wait list count SQL results.</a:t>
            </a:r>
            <a:endParaRPr lang="en-US" sz="1020" dirty="0"/>
          </a:p>
        </p:txBody>
      </p:sp>
      <p:sp>
        <p:nvSpPr>
          <p:cNvPr id="32" name="Text 30"/>
          <p:cNvSpPr/>
          <p:nvPr/>
        </p:nvSpPr>
        <p:spPr>
          <a:xfrm>
            <a:off x="8942832" y="4160520"/>
            <a:ext cx="2414016" cy="164592"/>
          </a:xfrm>
          <a:prstGeom prst="rect">
            <a:avLst/>
          </a:prstGeom>
          <a:noFill/>
          <a:ln/>
        </p:spPr>
        <p:txBody>
          <a:bodyPr wrap="square" lIns="0" tIns="0" rIns="0" bIns="0" rtlCol="0" anchor="ctr">
            <a:normAutofit/>
          </a:bodyPr>
          <a:lstStyle/>
          <a:p>
            <a:pPr marL="0" indent="0">
              <a:buNone/>
            </a:pPr>
            <a:r>
              <a:rPr lang="en-US" sz="1020" b="1" dirty="0">
                <a:solidFill>
                  <a:srgbClr val="9A6A00"/>
                </a:solidFill>
              </a:rPr>
              <a:t>PENDING Module 9</a:t>
            </a:r>
            <a:endParaRPr lang="en-US" sz="1020" dirty="0"/>
          </a:p>
        </p:txBody>
      </p:sp>
      <p:pic>
        <p:nvPicPr>
          <p:cNvPr id="33" name="Image 0" descr="/mnt/data/837ae131-d810-42c5-80ef-177935b38298.png"/>
          <p:cNvPicPr>
            <a:picLocks noChangeAspect="1"/>
          </p:cNvPicPr>
          <p:nvPr/>
        </p:nvPicPr>
        <p:blipFill>
          <a:blip r:embed="rId3"/>
          <a:stretch>
            <a:fillRect/>
          </a:stretch>
        </p:blipFill>
        <p:spPr>
          <a:xfrm>
            <a:off x="2088855" y="4892040"/>
            <a:ext cx="2131651" cy="1097280"/>
          </a:xfrm>
          <a:prstGeom prst="rect">
            <a:avLst/>
          </a:prstGeom>
        </p:spPr>
      </p:pic>
      <p:sp>
        <p:nvSpPr>
          <p:cNvPr id="34" name="Text 31"/>
          <p:cNvSpPr/>
          <p:nvPr/>
        </p:nvSpPr>
        <p:spPr>
          <a:xfrm>
            <a:off x="822960" y="6062472"/>
            <a:ext cx="466344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Test plan format used for peer evidence</a:t>
            </a:r>
            <a:endParaRPr lang="en-US" sz="950" dirty="0"/>
          </a:p>
        </p:txBody>
      </p:sp>
      <p:sp>
        <p:nvSpPr>
          <p:cNvPr id="35" name="Shape 32"/>
          <p:cNvSpPr/>
          <p:nvPr/>
        </p:nvSpPr>
        <p:spPr>
          <a:xfrm>
            <a:off x="6172200" y="4892040"/>
            <a:ext cx="5120640" cy="1051560"/>
          </a:xfrm>
          <a:prstGeom prst="rect">
            <a:avLst/>
          </a:prstGeom>
          <a:solidFill>
            <a:srgbClr val="F4F7FB"/>
          </a:solidFill>
          <a:ln w="12700">
            <a:solidFill>
              <a:srgbClr val="DDE5F0"/>
            </a:solidFill>
            <a:prstDash val="solid"/>
          </a:ln>
        </p:spPr>
        <p:txBody>
          <a:bodyPr/>
          <a:lstStyle/>
          <a:p>
            <a:endParaRPr lang="en-US"/>
          </a:p>
        </p:txBody>
      </p:sp>
      <p:sp>
        <p:nvSpPr>
          <p:cNvPr id="36" name="Text 33"/>
          <p:cNvSpPr/>
          <p:nvPr/>
        </p:nvSpPr>
        <p:spPr>
          <a:xfrm>
            <a:off x="6336792" y="5020056"/>
            <a:ext cx="4791456" cy="795528"/>
          </a:xfrm>
          <a:prstGeom prst="rect">
            <a:avLst/>
          </a:prstGeom>
          <a:noFill/>
          <a:ln/>
        </p:spPr>
        <p:txBody>
          <a:bodyPr wrap="square" lIns="254" tIns="254" rIns="254" bIns="254" rtlCol="0" anchor="ctr">
            <a:normAutofit/>
          </a:bodyPr>
          <a:lstStyle/>
          <a:p>
            <a:pPr marL="0" indent="0">
              <a:buNone/>
            </a:pPr>
            <a:r>
              <a:rPr lang="en-US" sz="1250" dirty="0">
                <a:solidFill>
                  <a:srgbClr val="0B2341"/>
                </a:solidFill>
              </a:rPr>
              <a:t>REMINDER: replace any pending result with the exact Module 9 test result after peer review is complete.</a:t>
            </a:r>
            <a:endParaRPr lang="en-US" sz="1250" dirty="0"/>
          </a:p>
        </p:txBody>
      </p:sp>
      <p:sp>
        <p:nvSpPr>
          <p:cNvPr id="37" name="Text 34"/>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38"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Lessons Learned</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Team takeaways from building and testing the prototype.</a:t>
            </a:r>
            <a:endParaRPr lang="en-US" sz="1200" dirty="0"/>
          </a:p>
        </p:txBody>
      </p:sp>
      <p:sp>
        <p:nvSpPr>
          <p:cNvPr id="5" name="Text 3"/>
          <p:cNvSpPr/>
          <p:nvPr/>
        </p:nvSpPr>
        <p:spPr>
          <a:xfrm>
            <a:off x="822960" y="1417320"/>
            <a:ext cx="8302752" cy="3840480"/>
          </a:xfrm>
          <a:prstGeom prst="rect">
            <a:avLst/>
          </a:prstGeom>
          <a:noFill/>
          <a:ln/>
        </p:spPr>
        <p:txBody>
          <a:bodyPr wrap="square" lIns="508" tIns="508" rIns="508" bIns="508" rtlCol="0" anchor="ctr">
            <a:normAutofit/>
          </a:bodyPr>
          <a:lstStyle/>
          <a:p>
            <a:pPr marL="285750" indent="-285750">
              <a:buFont typeface="Arial" panose="020B0604020202020204" pitchFamily="34" charset="0"/>
              <a:buChar char="•"/>
            </a:pPr>
            <a:r>
              <a:rPr lang="en-US" sz="1450" dirty="0">
                <a:solidFill>
                  <a:srgbClr val="05182F"/>
                </a:solidFill>
                <a:latin typeface="Arial" pitchFamily="34" charset="0"/>
                <a:ea typeface="Arial" pitchFamily="34" charset="-122"/>
                <a:cs typeface="Arial" pitchFamily="34" charset="-120"/>
              </a:rPr>
              <a:t>Keep database scripts and Java code synchronized so new columns match the running application.</a:t>
            </a:r>
            <a:endParaRPr lang="en-US" sz="1450" dirty="0"/>
          </a:p>
          <a:p>
            <a:pPr marL="285750" indent="-285750">
              <a:buFont typeface="Arial" panose="020B0604020202020204" pitchFamily="34" charset="0"/>
              <a:buChar char="•"/>
            </a:pPr>
            <a:r>
              <a:rPr lang="en-US" sz="1450" dirty="0">
                <a:solidFill>
                  <a:srgbClr val="05182F"/>
                </a:solidFill>
                <a:latin typeface="Arial" pitchFamily="34" charset="0"/>
                <a:ea typeface="Arial" pitchFamily="34" charset="-122"/>
                <a:cs typeface="Arial" pitchFamily="34" charset="-120"/>
              </a:rPr>
              <a:t>Use the test plan template consistently: developer/tester names, dates, pass/fail, screenshots, and comments.</a:t>
            </a:r>
            <a:endParaRPr lang="en-US" sz="1450" dirty="0"/>
          </a:p>
          <a:p>
            <a:pPr marL="285750" indent="-285750">
              <a:buFont typeface="Arial" panose="020B0604020202020204" pitchFamily="34" charset="0"/>
              <a:buChar char="•"/>
            </a:pPr>
            <a:r>
              <a:rPr lang="en-US" sz="1450" dirty="0">
                <a:solidFill>
                  <a:srgbClr val="05182F"/>
                </a:solidFill>
                <a:latin typeface="Arial" pitchFamily="34" charset="0"/>
                <a:ea typeface="Arial" pitchFamily="34" charset="-122"/>
                <a:cs typeface="Arial" pitchFamily="34" charset="-120"/>
              </a:rPr>
              <a:t>Coordinate earlier in Discord and tag the group when a meeting or test pass is starting.</a:t>
            </a:r>
            <a:endParaRPr lang="en-US" sz="1450" dirty="0"/>
          </a:p>
          <a:p>
            <a:pPr marL="285750" indent="-285750">
              <a:buFont typeface="Arial" panose="020B0604020202020204" pitchFamily="34" charset="0"/>
              <a:buChar char="•"/>
            </a:pPr>
            <a:r>
              <a:rPr lang="en-US" sz="1450" dirty="0">
                <a:solidFill>
                  <a:srgbClr val="05182F"/>
                </a:solidFill>
                <a:latin typeface="Arial" pitchFamily="34" charset="0"/>
                <a:ea typeface="Arial" pitchFamily="34" charset="-122"/>
                <a:cs typeface="Arial" pitchFamily="34" charset="-120"/>
              </a:rPr>
              <a:t>Keep presentation assets editable and simple so the whole team can revise them quickly.</a:t>
            </a:r>
            <a:endParaRPr lang="en-US" sz="1450" dirty="0"/>
          </a:p>
          <a:p>
            <a:pPr marL="285750" indent="-285750">
              <a:buFont typeface="Arial" panose="020B0604020202020204" pitchFamily="34" charset="0"/>
              <a:buChar char="•"/>
            </a:pPr>
            <a:r>
              <a:rPr lang="en-US" sz="1450" dirty="0">
                <a:solidFill>
                  <a:srgbClr val="05182F"/>
                </a:solidFill>
                <a:latin typeface="Arial" pitchFamily="34" charset="0"/>
                <a:ea typeface="Arial" pitchFamily="34" charset="-122"/>
                <a:cs typeface="Arial" pitchFamily="34" charset="-120"/>
              </a:rPr>
              <a:t>Deployment should be tested before final recording so the screen capture shows the live site smoothly.</a:t>
            </a:r>
            <a:endParaRPr lang="en-US" sz="1450" dirty="0"/>
          </a:p>
        </p:txBody>
      </p:sp>
      <p:sp>
        <p:nvSpPr>
          <p:cNvPr id="8" name="Text 5"/>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155680" cy="438912"/>
          </a:xfrm>
          <a:prstGeom prst="rect">
            <a:avLst/>
          </a:prstGeom>
          <a:noFill/>
          <a:ln/>
        </p:spPr>
        <p:txBody>
          <a:bodyPr wrap="square" lIns="0" tIns="0" rIns="0" bIns="0" rtlCol="0" anchor="ctr"/>
          <a:lstStyle/>
          <a:p>
            <a:pPr marL="0" indent="0">
              <a:buNone/>
            </a:pPr>
            <a:r>
              <a:rPr lang="en-US" sz="2400" b="1" dirty="0">
                <a:solidFill>
                  <a:srgbClr val="0B2341"/>
                </a:solidFill>
                <a:latin typeface="Arial" pitchFamily="34" charset="0"/>
                <a:ea typeface="Arial" pitchFamily="34" charset="-122"/>
                <a:cs typeface="Arial" pitchFamily="34" charset="-120"/>
              </a:rPr>
              <a:t>Screen Capture Plan</a:t>
            </a:r>
            <a:endParaRPr lang="en-US" sz="2400" dirty="0"/>
          </a:p>
        </p:txBody>
      </p:sp>
      <p:sp>
        <p:nvSpPr>
          <p:cNvPr id="3" name="Shape 1"/>
          <p:cNvSpPr/>
          <p:nvPr/>
        </p:nvSpPr>
        <p:spPr>
          <a:xfrm>
            <a:off x="502920" y="886968"/>
            <a:ext cx="960120" cy="0"/>
          </a:xfrm>
          <a:prstGeom prst="line">
            <a:avLst/>
          </a:prstGeom>
          <a:noFill/>
          <a:ln w="38100">
            <a:solidFill>
              <a:srgbClr val="F1B632"/>
            </a:solidFill>
            <a:prstDash val="solid"/>
          </a:ln>
        </p:spPr>
        <p:txBody>
          <a:bodyPr/>
          <a:lstStyle/>
          <a:p>
            <a:endParaRPr lang="en-US"/>
          </a:p>
        </p:txBody>
      </p:sp>
      <p:sp>
        <p:nvSpPr>
          <p:cNvPr id="4" name="Text 2"/>
          <p:cNvSpPr/>
          <p:nvPr/>
        </p:nvSpPr>
        <p:spPr>
          <a:xfrm>
            <a:off x="502920" y="987552"/>
            <a:ext cx="11155680" cy="292608"/>
          </a:xfrm>
          <a:prstGeom prst="rect">
            <a:avLst/>
          </a:prstGeom>
          <a:noFill/>
          <a:ln/>
        </p:spPr>
        <p:txBody>
          <a:bodyPr wrap="square" lIns="0" tIns="0" rIns="0" bIns="0" rtlCol="0" anchor="ctr"/>
          <a:lstStyle/>
          <a:p>
            <a:pPr marL="0" indent="0">
              <a:buNone/>
            </a:pPr>
            <a:r>
              <a:rPr lang="en-US" sz="1200" dirty="0">
                <a:solidFill>
                  <a:srgbClr val="586073"/>
                </a:solidFill>
                <a:latin typeface="Arial" pitchFamily="34" charset="0"/>
                <a:ea typeface="Arial" pitchFamily="34" charset="-122"/>
                <a:cs typeface="Arial" pitchFamily="34" charset="-120"/>
              </a:rPr>
              <a:t>Voice-over walkthrough order for the live-site recording.</a:t>
            </a:r>
            <a:endParaRPr lang="en-US" sz="1200" dirty="0"/>
          </a:p>
        </p:txBody>
      </p:sp>
      <p:sp>
        <p:nvSpPr>
          <p:cNvPr id="5" name="Text 3"/>
          <p:cNvSpPr/>
          <p:nvPr/>
        </p:nvSpPr>
        <p:spPr>
          <a:xfrm>
            <a:off x="685800" y="1417320"/>
            <a:ext cx="5577840" cy="4114800"/>
          </a:xfrm>
          <a:prstGeom prst="rect">
            <a:avLst/>
          </a:prstGeom>
          <a:noFill/>
          <a:ln/>
        </p:spPr>
        <p:txBody>
          <a:bodyPr wrap="square" lIns="508" tIns="508" rIns="508" bIns="508" rtlCol="0" anchor="ctr">
            <a:normAutofit/>
          </a:bodyPr>
          <a:lstStyle/>
          <a:p>
            <a:r>
              <a:rPr lang="en-US" sz="1260" dirty="0">
                <a:solidFill>
                  <a:srgbClr val="05182F"/>
                </a:solidFill>
                <a:latin typeface="Arial" pitchFamily="34" charset="0"/>
                <a:ea typeface="Arial" pitchFamily="34" charset="-122"/>
                <a:cs typeface="Arial" pitchFamily="34" charset="-120"/>
              </a:rPr>
              <a:t>1. Landing Page: introduce the marina and public navigation.</a:t>
            </a:r>
            <a:endParaRPr lang="en-US" sz="1260" dirty="0"/>
          </a:p>
          <a:p>
            <a:r>
              <a:rPr lang="en-US" sz="1260" dirty="0">
                <a:solidFill>
                  <a:srgbClr val="05182F"/>
                </a:solidFill>
                <a:latin typeface="Arial" pitchFamily="34" charset="0"/>
                <a:ea typeface="Arial" pitchFamily="34" charset="-122"/>
                <a:cs typeface="Arial" pitchFamily="34" charset="-120"/>
              </a:rPr>
              <a:t>2. About Us: explain marina purpose and public information.</a:t>
            </a:r>
            <a:endParaRPr lang="en-US" sz="1260" dirty="0"/>
          </a:p>
          <a:p>
            <a:r>
              <a:rPr lang="en-US" sz="1260" dirty="0">
                <a:solidFill>
                  <a:srgbClr val="05182F"/>
                </a:solidFill>
                <a:latin typeface="Arial" pitchFamily="34" charset="0"/>
                <a:ea typeface="Arial" pitchFamily="34" charset="-122"/>
                <a:cs typeface="Arial" pitchFamily="34" charset="-120"/>
              </a:rPr>
              <a:t>3. Contact Us: show contact options/form.</a:t>
            </a:r>
            <a:endParaRPr lang="en-US" sz="1260" dirty="0"/>
          </a:p>
          <a:p>
            <a:r>
              <a:rPr lang="en-US" sz="1260" dirty="0">
                <a:solidFill>
                  <a:srgbClr val="05182F"/>
                </a:solidFill>
                <a:latin typeface="Arial" pitchFamily="34" charset="0"/>
                <a:ea typeface="Arial" pitchFamily="34" charset="-122"/>
                <a:cs typeface="Arial" pitchFamily="34" charset="-120"/>
              </a:rPr>
              <a:t>4. User Registration: create or review account setup.</a:t>
            </a:r>
            <a:endParaRPr lang="en-US" sz="1260" dirty="0"/>
          </a:p>
          <a:p>
            <a:r>
              <a:rPr lang="en-US" sz="1260" dirty="0">
                <a:solidFill>
                  <a:srgbClr val="05182F"/>
                </a:solidFill>
                <a:latin typeface="Arial" pitchFamily="34" charset="0"/>
                <a:ea typeface="Arial" pitchFamily="34" charset="-122"/>
                <a:cs typeface="Arial" pitchFamily="34" charset="-120"/>
              </a:rPr>
              <a:t>5. Login: sign in as a customer.</a:t>
            </a:r>
            <a:endParaRPr lang="en-US" sz="1260" dirty="0"/>
          </a:p>
          <a:p>
            <a:r>
              <a:rPr lang="en-US" sz="1260" dirty="0">
                <a:solidFill>
                  <a:srgbClr val="05182F"/>
                </a:solidFill>
                <a:latin typeface="Arial" pitchFamily="34" charset="0"/>
                <a:ea typeface="Arial" pitchFamily="34" charset="-122"/>
                <a:cs typeface="Arial" pitchFamily="34" charset="-120"/>
              </a:rPr>
              <a:t>6. Slip Reservation: enter boat/reservation information.</a:t>
            </a:r>
            <a:endParaRPr lang="en-US" sz="1260" dirty="0"/>
          </a:p>
          <a:p>
            <a:r>
              <a:rPr lang="en-US" sz="1260" dirty="0">
                <a:solidFill>
                  <a:srgbClr val="05182F"/>
                </a:solidFill>
                <a:latin typeface="Arial" pitchFamily="34" charset="0"/>
                <a:ea typeface="Arial" pitchFamily="34" charset="-122"/>
                <a:cs typeface="Arial" pitchFamily="34" charset="-120"/>
              </a:rPr>
              <a:t>7. Reservation Summary: review reservation details.</a:t>
            </a:r>
            <a:endParaRPr lang="en-US" sz="1260" dirty="0"/>
          </a:p>
          <a:p>
            <a:r>
              <a:rPr lang="en-US" sz="1260" dirty="0">
                <a:solidFill>
                  <a:srgbClr val="05182F"/>
                </a:solidFill>
                <a:latin typeface="Arial" pitchFamily="34" charset="0"/>
                <a:ea typeface="Arial" pitchFamily="34" charset="-122"/>
                <a:cs typeface="Arial" pitchFamily="34" charset="-120"/>
              </a:rPr>
              <a:t>8. Look Up Reservation: retrieve a reservation by ID/email.</a:t>
            </a:r>
            <a:endParaRPr lang="en-US" sz="1260" dirty="0"/>
          </a:p>
          <a:p>
            <a:r>
              <a:rPr lang="en-US" sz="1260" dirty="0">
                <a:solidFill>
                  <a:srgbClr val="05182F"/>
                </a:solidFill>
                <a:latin typeface="Arial" pitchFamily="34" charset="0"/>
                <a:ea typeface="Arial" pitchFamily="34" charset="-122"/>
                <a:cs typeface="Arial" pitchFamily="34" charset="-120"/>
              </a:rPr>
              <a:t>9. Wait List Lookup: show availability/wait list result once Module 9 is finalized.</a:t>
            </a:r>
            <a:endParaRPr lang="en-US" sz="1260" dirty="0"/>
          </a:p>
        </p:txBody>
      </p:sp>
      <p:pic>
        <p:nvPicPr>
          <p:cNvPr id="6" name="Image 0" descr="/mnt/data/8c20478c-4f82-415f-85a7-5f9c55a94146.png"/>
          <p:cNvPicPr>
            <a:picLocks noChangeAspect="1"/>
          </p:cNvPicPr>
          <p:nvPr/>
        </p:nvPicPr>
        <p:blipFill>
          <a:blip r:embed="rId3"/>
          <a:stretch>
            <a:fillRect/>
          </a:stretch>
        </p:blipFill>
        <p:spPr>
          <a:xfrm>
            <a:off x="6792664" y="1417320"/>
            <a:ext cx="4245472" cy="2651760"/>
          </a:xfrm>
          <a:prstGeom prst="rect">
            <a:avLst/>
          </a:prstGeom>
        </p:spPr>
      </p:pic>
      <p:sp>
        <p:nvSpPr>
          <p:cNvPr id="7" name="Text 4"/>
          <p:cNvSpPr/>
          <p:nvPr/>
        </p:nvSpPr>
        <p:spPr>
          <a:xfrm>
            <a:off x="6583680" y="4142232"/>
            <a:ext cx="4663440" cy="201168"/>
          </a:xfrm>
          <a:prstGeom prst="rect">
            <a:avLst/>
          </a:prstGeom>
          <a:noFill/>
          <a:ln/>
        </p:spPr>
        <p:txBody>
          <a:bodyPr wrap="square" lIns="0" tIns="0" rIns="0" bIns="0" rtlCol="0" anchor="ctr">
            <a:normAutofit/>
          </a:bodyPr>
          <a:lstStyle/>
          <a:p>
            <a:pPr marL="0" indent="0" algn="ctr">
              <a:buNone/>
            </a:pPr>
            <a:r>
              <a:rPr lang="en-US" sz="950" i="1" dirty="0">
                <a:solidFill>
                  <a:srgbClr val="586073"/>
                </a:solidFill>
              </a:rPr>
              <a:t>Example page for screen capture flow</a:t>
            </a:r>
            <a:endParaRPr lang="en-US" sz="950" dirty="0"/>
          </a:p>
        </p:txBody>
      </p:sp>
      <p:sp>
        <p:nvSpPr>
          <p:cNvPr id="10" name="Text 7"/>
          <p:cNvSpPr/>
          <p:nvPr/>
        </p:nvSpPr>
        <p:spPr>
          <a:xfrm>
            <a:off x="502920" y="6473952"/>
            <a:ext cx="10698480" cy="201168"/>
          </a:xfrm>
          <a:prstGeom prst="rect">
            <a:avLst/>
          </a:prstGeom>
          <a:noFill/>
          <a:ln/>
        </p:spPr>
        <p:txBody>
          <a:bodyPr wrap="square" lIns="0" tIns="0" rIns="0" bIns="0" rtlCol="0" anchor="ctr"/>
          <a:lstStyle/>
          <a:p>
            <a:pPr marL="0" indent="0">
              <a:buNone/>
            </a:pPr>
            <a:r>
              <a:rPr lang="en-US" sz="850" dirty="0">
                <a:solidFill>
                  <a:srgbClr val="7A8191"/>
                </a:solidFill>
              </a:rPr>
              <a:t>Moffat Bay Marina • Group Green • CSD460</a:t>
            </a:r>
            <a:endParaRPr lang="en-US" sz="850" dirty="0"/>
          </a:p>
        </p:txBody>
      </p:sp>
      <p:sp>
        <p:nvSpPr>
          <p:cNvPr id="25" name="Slide Number Placeholder 0"/>
          <p:cNvSpPr>
            <a:spLocks noGrp="1"/>
          </p:cNvSpPr>
          <p:nvPr>
            <p:ph type="sldNum" sz="quarter" idx="4294967295"/>
          </p:nvPr>
        </p:nvSpPr>
        <p:spPr>
          <a:xfrm>
            <a:off x="1138428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A8191"/>
                </a:solidFill>
              </a:defRPr>
            </a:lvl1pPr>
          </a:lstStyle>
          <a:p>
            <a:pPr algn="l"/>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2410</Words>
  <Application>Microsoft Macintosh PowerPoint</Application>
  <PresentationFormat>Widescreen</PresentationFormat>
  <Paragraphs>201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Dardar</dc:creator>
  <cp:lastModifiedBy>Alexander Baldree</cp:lastModifiedBy>
  <cp:revision>2</cp:revision>
  <dcterms:created xsi:type="dcterms:W3CDTF">2026-09-24T02:15:43Z</dcterms:created>
  <dcterms:modified xsi:type="dcterms:W3CDTF">2026-10-03T23:28:12Z</dcterms:modified>
</cp:coreProperties>
</file>